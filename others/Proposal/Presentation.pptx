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A0694-3B0C-4F24-B857-8A0A37E1FD2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29FD3-A518-4934-A423-EBB00EDD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7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04B94F-EEDA-5CA0-77F2-D0563FC37390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776821" name="Oval 1"/>
          <p:cNvSpPr/>
          <p:nvPr/>
        </p:nvSpPr>
        <p:spPr bwMode="auto">
          <a:xfrm>
            <a:off x="8778240" y="-1737360"/>
            <a:ext cx="5120640" cy="5120640"/>
          </a:xfrm>
          <a:prstGeom prst="ellipse">
            <a:avLst/>
          </a:prstGeom>
          <a:solidFill>
            <a:srgbClr val="ED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5859498" name="Oval 2"/>
          <p:cNvSpPr/>
          <p:nvPr/>
        </p:nvSpPr>
        <p:spPr bwMode="auto">
          <a:xfrm>
            <a:off x="-1554480" y="4480560"/>
            <a:ext cx="4023360" cy="4023360"/>
          </a:xfrm>
          <a:prstGeom prst="ellipse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2634955" name="Oval 3"/>
          <p:cNvSpPr/>
          <p:nvPr/>
        </p:nvSpPr>
        <p:spPr bwMode="auto">
          <a:xfrm>
            <a:off x="1737360" y="-1188720"/>
            <a:ext cx="2377440" cy="2377440"/>
          </a:xfrm>
          <a:prstGeom prst="ellipse">
            <a:avLst/>
          </a:prstGeom>
          <a:solidFill>
            <a:srgbClr val="F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9229752" name="Rounded Rectangle 4"/>
          <p:cNvSpPr/>
          <p:nvPr/>
        </p:nvSpPr>
        <p:spPr bwMode="auto">
          <a:xfrm>
            <a:off x="5259872" y="4369905"/>
            <a:ext cx="1669207" cy="32385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defRPr/>
            </a:pPr>
            <a:r>
              <a:rPr sz="900">
                <a:solidFill>
                  <a:srgbClr val="2563EB"/>
                </a:solidFill>
                <a:latin typeface="Calibri"/>
              </a:rPr>
              <a:t> </a:t>
            </a:r>
            <a:r>
              <a:rPr sz="1200">
                <a:solidFill>
                  <a:srgbClr val="6B7A93"/>
                </a:solidFill>
                <a:latin typeface="Calibri"/>
              </a:rPr>
              <a:t>CSE299.3   Group #1</a:t>
            </a:r>
            <a:endParaRPr sz="2200"/>
          </a:p>
        </p:txBody>
      </p:sp>
      <p:sp>
        <p:nvSpPr>
          <p:cNvPr id="887259081" name="Rounded Rectangle 6"/>
          <p:cNvSpPr/>
          <p:nvPr/>
        </p:nvSpPr>
        <p:spPr bwMode="auto">
          <a:xfrm>
            <a:off x="5401991" y="964004"/>
            <a:ext cx="1386047" cy="313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1400">
                <a:solidFill>
                  <a:srgbClr val="6B7A93"/>
                </a:solidFill>
                <a:latin typeface="Calibri"/>
              </a:rPr>
              <a:t>Project Proposal</a:t>
            </a:r>
            <a:endParaRPr sz="2400"/>
          </a:p>
        </p:txBody>
      </p:sp>
      <p:sp>
        <p:nvSpPr>
          <p:cNvPr id="255290480" name="TextBox 7"/>
          <p:cNvSpPr txBox="1"/>
          <p:nvPr/>
        </p:nvSpPr>
        <p:spPr bwMode="auto">
          <a:xfrm>
            <a:off x="548640" y="2026247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5800" b="1" i="0">
                <a:solidFill>
                  <a:srgbClr val="0F182B"/>
                </a:solidFill>
                <a:latin typeface="Calibri"/>
              </a:rPr>
              <a:t>Sim</a:t>
            </a:r>
            <a:r>
              <a:rPr sz="5800" b="1" i="0">
                <a:solidFill>
                  <a:srgbClr val="2563EB"/>
                </a:solidFill>
                <a:latin typeface="Calibri"/>
              </a:rPr>
              <a:t>QC</a:t>
            </a:r>
            <a:endParaRPr/>
          </a:p>
        </p:txBody>
      </p:sp>
      <p:sp>
        <p:nvSpPr>
          <p:cNvPr id="1648734090" name="TextBox 8"/>
          <p:cNvSpPr txBox="1"/>
          <p:nvPr/>
        </p:nvSpPr>
        <p:spPr bwMode="auto">
          <a:xfrm>
            <a:off x="1097280" y="337430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650" b="0" i="0">
                <a:solidFill>
                  <a:srgbClr val="475569"/>
                </a:solidFill>
                <a:latin typeface="Calibri"/>
              </a:rPr>
              <a:t>A browser-based quantum circuit simulator with </a:t>
            </a:r>
            <a:r>
              <a:rPr sz="1650" b="1" i="0">
                <a:solidFill>
                  <a:srgbClr val="0F182B"/>
                </a:solidFill>
                <a:latin typeface="Calibri"/>
              </a:rPr>
              <a:t>stepwise inspection</a:t>
            </a:r>
            <a:r>
              <a:rPr sz="1650" b="0" i="0">
                <a:solidFill>
                  <a:srgbClr val="475569"/>
                </a:solidFill>
                <a:latin typeface="Calibri"/>
              </a:rPr>
              <a:t> and </a:t>
            </a:r>
            <a:r>
              <a:rPr sz="1650" b="1" i="0">
                <a:solidFill>
                  <a:srgbClr val="0F182B"/>
                </a:solidFill>
                <a:latin typeface="Calibri"/>
              </a:rPr>
              <a:t>AI-assisted explanation</a:t>
            </a:r>
            <a:endParaRPr/>
          </a:p>
        </p:txBody>
      </p:sp>
      <p:sp>
        <p:nvSpPr>
          <p:cNvPr id="1345536241" name="Rounded Rectangle 9"/>
          <p:cNvSpPr/>
          <p:nvPr/>
        </p:nvSpPr>
        <p:spPr bwMode="auto">
          <a:xfrm>
            <a:off x="2614856" y="4968837"/>
            <a:ext cx="16480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2563EB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Aoutul Nabi Purna</a:t>
            </a:r>
            <a:endParaRPr/>
          </a:p>
        </p:txBody>
      </p:sp>
      <p:sp>
        <p:nvSpPr>
          <p:cNvPr id="263896821" name="Rounded Rectangle 10"/>
          <p:cNvSpPr/>
          <p:nvPr/>
        </p:nvSpPr>
        <p:spPr bwMode="auto">
          <a:xfrm>
            <a:off x="4409170" y="4968837"/>
            <a:ext cx="130315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7C3AED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Shishir Dhar</a:t>
            </a:r>
            <a:endParaRPr/>
          </a:p>
        </p:txBody>
      </p:sp>
      <p:sp>
        <p:nvSpPr>
          <p:cNvPr id="1849092732" name="Rounded Rectangle 11"/>
          <p:cNvSpPr/>
          <p:nvPr/>
        </p:nvSpPr>
        <p:spPr bwMode="auto">
          <a:xfrm>
            <a:off x="5858625" y="4968837"/>
            <a:ext cx="137212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DB2777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Shihab Sharar</a:t>
            </a:r>
            <a:endParaRPr/>
          </a:p>
        </p:txBody>
      </p:sp>
      <p:sp>
        <p:nvSpPr>
          <p:cNvPr id="1633894019" name="Rounded Rectangle 12"/>
          <p:cNvSpPr/>
          <p:nvPr/>
        </p:nvSpPr>
        <p:spPr bwMode="auto">
          <a:xfrm>
            <a:off x="7377051" y="4968837"/>
            <a:ext cx="219978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defRPr/>
            </a:pPr>
            <a:r>
              <a:rPr sz="700">
                <a:solidFill>
                  <a:srgbClr val="159E4A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Md. Iftikhar Alam Hrithik</a:t>
            </a:r>
            <a:endParaRPr/>
          </a:p>
        </p:txBody>
      </p:sp>
      <p:sp>
        <p:nvSpPr>
          <p:cNvPr id="889639017" name="TextBox 13"/>
          <p:cNvSpPr txBox="1"/>
          <p:nvPr/>
        </p:nvSpPr>
        <p:spPr bwMode="auto">
          <a:xfrm>
            <a:off x="731520" y="5563197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6B7A93"/>
                </a:solidFill>
                <a:latin typeface="Consolas"/>
              </a:rPr>
              <a:t>Department of Electrical and Computer Engineering · North South University, Dhaka</a:t>
            </a:r>
            <a:endParaRPr/>
          </a:p>
        </p:txBody>
      </p:sp>
      <p:sp>
        <p:nvSpPr>
          <p:cNvPr id="2116033646" name="Rectangle 14"/>
          <p:cNvSpPr/>
          <p:nvPr/>
        </p:nvSpPr>
        <p:spPr bwMode="auto"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5533010" name="TextBox 15"/>
          <p:cNvSpPr txBox="1"/>
          <p:nvPr/>
        </p:nvSpPr>
        <p:spPr bwMode="auto">
          <a:xfrm>
            <a:off x="502920" y="6563669"/>
            <a:ext cx="9706319" cy="1451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CSE299.3:  Aoutul Nabi Purna · Shishir Dhar · Shihab Sharar · Md. Iftikhar Alam Hrithik</a:t>
            </a:r>
            <a:endParaRPr/>
          </a:p>
        </p:txBody>
      </p:sp>
      <p:sp>
        <p:nvSpPr>
          <p:cNvPr id="1132009501" name="TextBox 16"/>
          <p:cNvSpPr txBox="1"/>
          <p:nvPr/>
        </p:nvSpPr>
        <p:spPr bwMode="auto"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6B7A93"/>
                </a:solidFill>
                <a:latin typeface="Consolas"/>
              </a:rPr>
              <a:t>01 / 15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Team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Group 1 — Our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As required, we begin by introducing all group members with their full names: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5138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943100"/>
            <a:ext cx="685800" cy="685800"/>
          </a:xfrm>
          <a:prstGeom prst="ellipse">
            <a:avLst/>
          </a:prstGeom>
          <a:solidFill>
            <a:srgbClr val="D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2563EB"/>
                </a:solidFill>
                <a:latin typeface="Calibri"/>
              </a:rPr>
              <a:t>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83664"/>
            <a:ext cx="4142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82B"/>
                </a:solidFill>
                <a:latin typeface="Calibri"/>
              </a:rPr>
              <a:t>Aoutul Nabi Purna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B7A93"/>
                </a:solidFill>
                <a:latin typeface="Consolas"/>
              </a:rPr>
              <a:t>aoutul.purna.241@northsouth.edu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alibri"/>
              </a:rPr>
              <a:t>Dept. of ECE · North South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5138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0" y="1943100"/>
            <a:ext cx="685800" cy="685800"/>
          </a:xfrm>
          <a:prstGeom prst="ellipse">
            <a:avLst/>
          </a:prstGeom>
          <a:solidFill>
            <a:srgbClr val="EAD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7C3AED"/>
                </a:solidFill>
                <a:latin typeface="Calibri"/>
              </a:rPr>
              <a:t>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83664"/>
            <a:ext cx="4142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82B"/>
                </a:solidFill>
                <a:latin typeface="Calibri"/>
              </a:rPr>
              <a:t>Shishir Dhar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B7A93"/>
                </a:solidFill>
                <a:latin typeface="Consolas"/>
              </a:rPr>
              <a:t>shishir.dhar.241@northsouth.edu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alibri"/>
              </a:rPr>
              <a:t>Dept. of ECE · North South University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54680"/>
            <a:ext cx="55138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3497580"/>
            <a:ext cx="685800" cy="685800"/>
          </a:xfrm>
          <a:prstGeom prst="ellipse">
            <a:avLst/>
          </a:prstGeom>
          <a:solidFill>
            <a:srgbClr val="F9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DB2777"/>
                </a:solidFill>
                <a:latin typeface="Calibri"/>
              </a:rPr>
              <a:t>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38144"/>
            <a:ext cx="4142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82B"/>
                </a:solidFill>
                <a:latin typeface="Calibri"/>
              </a:rPr>
              <a:t>Shihab Sharar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B7A93"/>
                </a:solidFill>
                <a:latin typeface="Consolas"/>
              </a:rPr>
              <a:t>shihab.sharar.241@northsouth.edu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alibri"/>
              </a:rPr>
              <a:t>Dept. of ECE · North South University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54680"/>
            <a:ext cx="551383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0" y="3497580"/>
            <a:ext cx="685800" cy="685800"/>
          </a:xfrm>
          <a:prstGeom prst="ellipse">
            <a:avLst/>
          </a:prstGeom>
          <a:solidFill>
            <a:srgbClr val="D9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59E4A"/>
                </a:solidFill>
                <a:latin typeface="Calibri"/>
              </a:rPr>
              <a:t>MH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438144"/>
            <a:ext cx="4142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82B"/>
                </a:solidFill>
                <a:latin typeface="Calibri"/>
              </a:rPr>
              <a:t>Md. Iftikhar Alam Hrithik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B7A93"/>
                </a:solidFill>
                <a:latin typeface="Consolas"/>
              </a:rPr>
              <a:t>iftikhar.hrithik.241@northsouth.edu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alibri"/>
              </a:rPr>
              <a:t>Dept. of ECE · North South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Today we present </a:t>
            </a:r>
            <a:r>
              <a:rPr sz="1250" b="1" i="0">
                <a:solidFill>
                  <a:srgbClr val="2563EB"/>
                </a:solidFill>
                <a:latin typeface="Calibri"/>
              </a:rPr>
              <a:t>SimQC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— a browser-based quantum circuit simulator with stepwise inspection and AI-assisted explanation.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Why build another simulator?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Quantum computing introduces primitives with no classical equivalent — even small circuits behave in ways that are hard to predict by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6393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197510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2563EB"/>
                </a:solidFill>
                <a:latin typeface="Consolas"/>
              </a:rPr>
              <a:t>GAP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57984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82B"/>
                </a:solidFill>
                <a:latin typeface="Calibri"/>
              </a:rPr>
              <a:t>Math ≠ intuition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78024"/>
            <a:ext cx="3236976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Abstract linear algebra fails to build a real intuition about the actual mechanism behind circuits.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783080"/>
            <a:ext cx="36393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71416" y="197510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920240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7C3AED"/>
                </a:solidFill>
                <a:latin typeface="Consolas"/>
              </a:rPr>
              <a:t>GAP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157984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82B"/>
                </a:solidFill>
                <a:latin typeface="Calibri"/>
              </a:rPr>
              <a:t>Hardware is out of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478024"/>
            <a:ext cx="3236976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Without quantum hardware, a simulator is the primary tool for developing intuition and verifying algorithms.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6" y="1783080"/>
            <a:ext cx="36393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38744" y="1975104"/>
            <a:ext cx="13716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20240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DB2777"/>
                </a:solidFill>
                <a:latin typeface="Consolas"/>
              </a:rPr>
              <a:t>GAP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157984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82B"/>
                </a:solidFill>
                <a:latin typeface="Calibri"/>
              </a:rPr>
              <a:t>Existing tools are heavy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478024"/>
            <a:ext cx="3236976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Existing simulators vary widely, and many are tied to an SDK, a Python environment, or a server-side backend.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11183112" cy="731520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977639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Our answer: </a:t>
            </a:r>
            <a:r>
              <a:rPr sz="1250" b="0" i="0">
                <a:solidFill>
                  <a:srgbClr val="0F182B"/>
                </a:solidFill>
                <a:latin typeface="Calibri"/>
              </a:rPr>
              <a:t>a lightweight, browser-resident simulator — open a tab and simulate. Zero installation lets a learner focus on the circuit itself rather than on environment setup.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02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Intuition stops scaling at 2ⁿ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Hand computation works for small systems, but as qubits grow the state dimension grows exponentially, and multi-qubit behaviour — entanglement and the interference patterns of Grover and QFT — becomes impossible to verify by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10512"/>
            <a:ext cx="36301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92807"/>
            <a:ext cx="3264408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563EB"/>
                </a:solidFill>
                <a:latin typeface="Cambria Math"/>
              </a:rPr>
              <a:t>2¹⁰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amplitudes at 10 qubits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810512"/>
            <a:ext cx="36301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892807"/>
            <a:ext cx="3264408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563EB"/>
                </a:solidFill>
                <a:latin typeface="Cambria Math"/>
              </a:rPr>
              <a:t>2²⁰ ≈ 1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amplitudes at 20 qubits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810512"/>
            <a:ext cx="36301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892807"/>
            <a:ext cx="3264408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563EB"/>
                </a:solidFill>
                <a:latin typeface="Cambria Math"/>
              </a:rPr>
              <a:t>2²⁴ ≈ 16.7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amplitudes at the 24-qubit cap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5522976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" y="298094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79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2563EB"/>
                </a:solidFill>
                <a:latin typeface="Consolas"/>
              </a:rPr>
              <a:t>(i) REPRESENT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1638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Explicit state representation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483864"/>
            <a:ext cx="5120640" cy="640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Multi-qubit states represented explicitly, as vectors of complex amplitudes.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788920"/>
            <a:ext cx="5522976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64224" y="298094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74536" y="2926079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7C3AED"/>
                </a:solidFill>
                <a:latin typeface="Consolas"/>
              </a:rPr>
              <a:t>(ii) APPLY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1638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Targeted gate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483864"/>
            <a:ext cx="5120640" cy="640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Gates applied efficiently to the targeted qubits only — never the entire 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61688"/>
            <a:ext cx="5522976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4088" y="4553712"/>
            <a:ext cx="13716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DB2777"/>
                </a:solidFill>
                <a:latin typeface="Consolas"/>
              </a:rPr>
              <a:t>(iii)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73659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Canonical algorithms, 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056631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Quantum algorithms implemented through gates and checked against theory.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4361688"/>
            <a:ext cx="5522976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64224" y="4553712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74536" y="4498848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159E4A"/>
                </a:solidFill>
                <a:latin typeface="Consolas"/>
              </a:rPr>
              <a:t>(iv) INSPECT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473659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Inspect the journey, not just the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5056631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Users see how a circuit produces its result — not only its final measurement.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03 ·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Standing on the shoulders of Quirk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522976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088" y="138074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2563EB"/>
                </a:solidFill>
                <a:latin typeface="Consolas"/>
              </a:rPr>
              <a:t>PRINCIPAL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5636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82B"/>
                </a:solidFill>
                <a:latin typeface="Calibri"/>
              </a:rPr>
              <a:t>Quirk — drag-and-drop, in-browser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83664"/>
            <a:ext cx="5120640" cy="2441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Open-source browser quantum circuit simulator (Apache-2.0, by C. Gidney)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Drag-and-drop circuit grid with real-time simulation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Inline state displays: probability, Bloch sphere, amplitude, density matrix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URL serialization · undo/redo · support for controlled 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188720"/>
            <a:ext cx="5522976" cy="3246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64224" y="138074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74536" y="1325880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7C3AED"/>
                </a:solidFill>
                <a:latin typeface="Consolas"/>
              </a:rPr>
              <a:t>HOW WE DIFFER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5636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82B"/>
                </a:solidFill>
                <a:latin typeface="Calibri"/>
              </a:rPr>
              <a:t>Inspiration — not 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83664"/>
            <a:ext cx="5120640" cy="2441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7C3AED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Quirk is our design inspiration — we do not copy its architecture.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7C3AED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Quirk already displays state after every circuit column.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7C3AED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SimQC therefore scopes to breakpoint-based, user-driven stepwise debugging — a debugger interaction model, not passive per-column display.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63440"/>
            <a:ext cx="8705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DB2777"/>
                </a:solidFill>
                <a:latin typeface="Calibri"/>
              </a:rPr>
              <a:t>●  </a:t>
            </a:r>
            <a:r>
              <a:rPr sz="1050">
                <a:solidFill>
                  <a:srgbClr val="6B7A93"/>
                </a:solidFill>
                <a:latin typeface="Calibri"/>
              </a:rPr>
              <a:t>Qiskit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0588" y="4663440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DB2777"/>
                </a:solidFill>
                <a:latin typeface="Calibri"/>
              </a:rPr>
              <a:t>●  </a:t>
            </a:r>
            <a:r>
              <a:rPr sz="1050">
                <a:solidFill>
                  <a:srgbClr val="6B7A93"/>
                </a:solidFill>
                <a:latin typeface="Calibri"/>
              </a:rPr>
              <a:t>Cirq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86584" y="4663440"/>
            <a:ext cx="106801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DB2777"/>
                </a:solidFill>
                <a:latin typeface="Calibri"/>
              </a:rPr>
              <a:t>●  </a:t>
            </a:r>
            <a:r>
              <a:rPr sz="1050">
                <a:solidFill>
                  <a:srgbClr val="6B7A93"/>
                </a:solidFill>
                <a:latin typeface="Calibri"/>
              </a:rPr>
              <a:t>PennyLane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1763" y="4663440"/>
            <a:ext cx="179222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DB2777"/>
                </a:solidFill>
                <a:latin typeface="Calibri"/>
              </a:rPr>
              <a:t>●  </a:t>
            </a:r>
            <a:r>
              <a:rPr sz="1050">
                <a:solidFill>
                  <a:srgbClr val="6B7A93"/>
                </a:solidFill>
                <a:latin typeface="Calibri"/>
              </a:rPr>
              <a:t>IBM Quantum Composer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6867" y="4709160"/>
            <a:ext cx="62746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— powerful, but tied to Python/SDKs or server-side backends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04 ·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Seven committed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522976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088" y="138074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2563EB"/>
                </a:solidFill>
                <a:latin typeface="Consolas"/>
              </a:rPr>
              <a:t>01 ·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563624"/>
            <a:ext cx="51206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82B"/>
                </a:solidFill>
                <a:latin typeface="Calibri"/>
              </a:rPr>
              <a:t>Explicit state vectors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complex amplitudes, normalized after every gate; warning at 20 qubits, hard cap at 24.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188720"/>
            <a:ext cx="5522976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64224" y="138074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4536" y="1325880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7C3AED"/>
                </a:solidFill>
                <a:latin typeface="Consolas"/>
              </a:rPr>
              <a:t>02 ·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563624"/>
            <a:ext cx="51206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82B"/>
                </a:solidFill>
                <a:latin typeface="Calibri"/>
              </a:rPr>
              <a:t>Gate library: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 minimum X, Y, Z, H, CNOT, Rx, Ry, Rz; extended set (I, S, T, CZ, SWAP, Toffoli) planned as an extension.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59152"/>
            <a:ext cx="5522976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4088" y="2551176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496312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159E4A"/>
                </a:solidFill>
                <a:latin typeface="Consolas"/>
              </a:rPr>
              <a:t>03 ·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734056"/>
            <a:ext cx="51206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82B"/>
                </a:solidFill>
                <a:latin typeface="Calibri"/>
              </a:rPr>
              <a:t>Target-only application: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 each gate applied only to its target qubits — the full 2ⁿ×2ⁿ unitary matrix is never materialized.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359152"/>
            <a:ext cx="5522976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64224" y="2551176"/>
            <a:ext cx="13716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74536" y="2496312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DB2777"/>
                </a:solidFill>
                <a:latin typeface="Consolas"/>
              </a:rPr>
              <a:t>04 ·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734056"/>
            <a:ext cx="51206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82B"/>
                </a:solidFill>
                <a:latin typeface="Calibri"/>
              </a:rPr>
              <a:t>Repeated-shot sampling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 with state collapse.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9584"/>
            <a:ext cx="5522976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4088" y="3721608"/>
            <a:ext cx="13716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666744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D97706"/>
                </a:solidFill>
                <a:latin typeface="Consolas"/>
              </a:rPr>
              <a:t>05 · ALGORITHMS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904488"/>
            <a:ext cx="51206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82B"/>
                </a:solidFill>
                <a:latin typeface="Calibri"/>
              </a:rPr>
              <a:t>≥ 3 canonical algorithms: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 Deutsch–Jozsa, Grover, Quantum Fourier Transform — verified against theoretical results.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3529584"/>
            <a:ext cx="5522976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64224" y="3721608"/>
            <a:ext cx="137160" cy="45720"/>
          </a:xfrm>
          <a:prstGeom prst="rect">
            <a:avLst/>
          </a:prstGeom>
          <a:solidFill>
            <a:srgbClr val="0E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74536" y="3666744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E7FB8"/>
                </a:solidFill>
                <a:latin typeface="Consolas"/>
              </a:rPr>
              <a:t>06 · EDITOR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904488"/>
            <a:ext cx="51206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82B"/>
                </a:solidFill>
                <a:latin typeface="Calibri"/>
              </a:rPr>
              <a:t>Custom drag-and-drop editor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 driving the simulation core through a clean interface.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700016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4088" y="4892040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10616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7C3AED"/>
                </a:solidFill>
                <a:latin typeface="Consolas"/>
              </a:rPr>
              <a:t>07 · AI MODULES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074920"/>
            <a:ext cx="10780776" cy="429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82B"/>
                </a:solidFill>
                <a:latin typeface="Calibri"/>
              </a:rPr>
              <a:t>Explainer AI —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describes, breaks down, and simplifies existing circuits.   </a:t>
            </a:r>
            <a:r>
              <a:rPr sz="1100" b="1" i="0">
                <a:solidFill>
                  <a:srgbClr val="0F182B"/>
                </a:solidFill>
                <a:latin typeface="Calibri"/>
              </a:rPr>
              <a:t>Builder AI —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synthesizes circuits from a textual description.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925312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706"/>
                </a:solidFill>
                <a:latin typeface="Calibri"/>
              </a:rPr>
              <a:t>Honest scoping: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the builder AI is a proposed feature, not a guaranteed deliverable — no accuracy claims. Performance is discussed asymptotically only; no benchmark numbers.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05 · Core Engineering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Per-gate cost: O(2ⁿ), not O(4ⁿ)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522976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325880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DB2777"/>
                </a:solidFill>
                <a:latin typeface="Consolas"/>
              </a:rPr>
              <a:t>TEXTBOOK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57276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B2777"/>
                </a:solidFill>
                <a:latin typeface="Cambria Math"/>
              </a:rPr>
              <a:t>O(4ⁿ)</a:t>
            </a:r>
            <a:r>
              <a:rPr sz="1200" b="0" i="0">
                <a:solidFill>
                  <a:srgbClr val="475569"/>
                </a:solidFill>
                <a:latin typeface="Calibri"/>
              </a:rPr>
              <a:t>  per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57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Lift G to the full 2ⁿ × 2ⁿ operator via Kronecker products, then apply it to the state: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578608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482803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82B"/>
                </a:solidFill>
                <a:latin typeface="Cambria Math"/>
              </a:rPr>
              <a:t>Uₜ = I ⊗ ⋯ ⊗ I ⊗ G ⊗ I ⊗ ⋯ ⊗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2004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DB2777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475569"/>
                </a:solidFill>
                <a:latin typeface="Calibri"/>
              </a:rPr>
              <a:t>Materializes a dense 2ⁿ × 2ⁿ matrix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DB2777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475569"/>
                </a:solidFill>
                <a:latin typeface="Calibri"/>
              </a:rPr>
              <a:t>Dense matrix–vector product for every gate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DB2777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475569"/>
                </a:solidFill>
                <a:latin typeface="Calibri"/>
              </a:rPr>
              <a:t>Infeasible beyond small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188720"/>
            <a:ext cx="5522976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325880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159E4A"/>
                </a:solidFill>
                <a:latin typeface="Consolas"/>
              </a:rPr>
              <a:t>SIMQC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57276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59E4A"/>
                </a:solidFill>
                <a:latin typeface="Cambria Math"/>
              </a:rPr>
              <a:t>O(2ⁿ)</a:t>
            </a:r>
            <a:r>
              <a:rPr sz="1200" b="0" i="0">
                <a:solidFill>
                  <a:srgbClr val="475569"/>
                </a:solidFill>
                <a:latin typeface="Calibri"/>
              </a:rPr>
              <a:t>  per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057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Uₜ only mixes amplitude pairs whose indices differ in bit t ( j = i ⊕ 2ᵗ ) — update each such pair directly: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578608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2578608"/>
            <a:ext cx="482803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82B"/>
                </a:solidFill>
                <a:latin typeface="Cambria Math"/>
              </a:rPr>
              <a:t>( α′ᵢ , α′ᵢ⊕2ᵗ )ᵀ = G · ( αᵢ , αᵢ⊕2ᵗ )ᵀ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2004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59E4A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475569"/>
                </a:solidFill>
                <a:latin typeface="Calibri"/>
              </a:rPr>
              <a:t>2ⁿ indices form 2ⁿ/2 disjoint pairs — the same 2×2 matrix G acts on each pair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59E4A"/>
                </a:solidFill>
                <a:latin typeface="Calibri"/>
              </a:rPr>
              <a:t>▸  </a:t>
            </a:r>
            <a:r>
              <a:rPr sz="1050" b="0" i="0">
                <a:solidFill>
                  <a:srgbClr val="475569"/>
                </a:solidFill>
                <a:latin typeface="Calibri"/>
              </a:rPr>
              <a:t>Controlled gates: the pair update is applied only when the control bits are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24528"/>
            <a:ext cx="36301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306824"/>
            <a:ext cx="3264408" cy="722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59E4A"/>
                </a:solidFill>
                <a:latin typeface="Cambria Math"/>
              </a:rPr>
              <a:t>16.7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amplitudes at 24 qubits — stored in Float64Array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4224528"/>
            <a:ext cx="36301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4306824"/>
            <a:ext cx="3264408" cy="722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DB2777"/>
                </a:solidFill>
                <a:latin typeface="Cambria Math"/>
              </a:rPr>
              <a:t>≈ 2.8 × 10¹⁴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entries in the full unitary — which is never built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4224528"/>
            <a:ext cx="36301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8744" y="4306824"/>
            <a:ext cx="3264408" cy="722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563EB"/>
                </a:solidFill>
                <a:latin typeface="Cambria Math"/>
              </a:rPr>
              <a:t>≈ 8.4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tiny 2×2 pair updates per gate — perfectly feasible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30368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This pairwise update is exactly the multi-qubit generalization of the single-qubit product, with the same 2×2 matrix G acting on a different amplitude pair per index.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 dirty="0">
                <a:solidFill>
                  <a:srgbClr val="2563EB"/>
                </a:solidFill>
                <a:latin typeface="Consolas"/>
              </a:rPr>
              <a:t>0</a:t>
            </a:r>
            <a:r>
              <a:rPr lang="en-US" sz="1050" b="1" i="0" spc="160" dirty="0">
                <a:solidFill>
                  <a:srgbClr val="2563EB"/>
                </a:solidFill>
                <a:latin typeface="Consolas"/>
              </a:rPr>
              <a:t>6</a:t>
            </a:r>
            <a:r>
              <a:rPr sz="1050" b="1" i="0" spc="160" dirty="0">
                <a:solidFill>
                  <a:srgbClr val="2563EB"/>
                </a:solidFill>
                <a:latin typeface="Consolas"/>
              </a:rPr>
              <a:t> · Methodology — States &amp;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A small matrix mixes a small set of amplitudes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486400" cy="5029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188720"/>
            <a:ext cx="51937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82B"/>
                </a:solidFill>
                <a:latin typeface="Cambria Math"/>
              </a:rPr>
              <a:t>|ψ⟩ = ∑ αᵢ |i⟩ ,   i = 0 … 2ⁿ−1 ,   αᵢ ∈ ℂ</a:t>
            </a:r>
            <a:r>
              <a:rPr sz="1000" b="0" i="0">
                <a:solidFill>
                  <a:srgbClr val="6B7A93"/>
                </a:solidFill>
                <a:latin typeface="Calibri"/>
              </a:rPr>
              <a:t>   (1)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01368"/>
            <a:ext cx="5486400" cy="5029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801368"/>
            <a:ext cx="51937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82B"/>
                </a:solidFill>
                <a:latin typeface="Cambria Math"/>
              </a:rPr>
              <a:t>∑ |αᵢ|² = 1</a:t>
            </a:r>
            <a:r>
              <a:rPr sz="1000" b="0" i="0">
                <a:solidFill>
                  <a:srgbClr val="6B7A93"/>
                </a:solidFill>
                <a:latin typeface="Calibri"/>
              </a:rPr>
              <a:t>   (normalization)   (2)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14016"/>
            <a:ext cx="5486400" cy="5029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414016"/>
            <a:ext cx="51937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82B"/>
                </a:solidFill>
                <a:latin typeface="Cambria Math"/>
              </a:rPr>
              <a:t>|ψₖ₊₁⟩ = Uₖ |ψₖ⟩</a:t>
            </a:r>
            <a:r>
              <a:rPr sz="1000" b="0" i="0">
                <a:solidFill>
                  <a:srgbClr val="6B7A93"/>
                </a:solidFill>
                <a:latin typeface="Calibri"/>
              </a:rPr>
              <a:t>   (unitary update per gate / column)   (3)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27248"/>
            <a:ext cx="54864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" y="3319272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64408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159E4A"/>
                </a:solidFill>
                <a:latin typeface="Consola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502152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82B"/>
                </a:solidFill>
                <a:latin typeface="Calibri"/>
              </a:rPr>
              <a:t>Storage &amp; 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822191"/>
            <a:ext cx="5084064" cy="795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59E4A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Amplitudes stored in JavaScript </a:t>
            </a:r>
            <a:r>
              <a:rPr sz="1100" b="1" i="0">
                <a:solidFill>
                  <a:srgbClr val="0F182B"/>
                </a:solidFill>
                <a:latin typeface="Consolas"/>
              </a:rPr>
              <a:t>Float64Array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 typed arrays — real &amp; imaginary parts interleaved or paired.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59E4A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Complex arithmetic implemented once and reused — the dependency order ensures no module duplicates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468112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9088" y="138074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325880"/>
            <a:ext cx="4901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2563EB"/>
                </a:solidFill>
                <a:latin typeface="Consolas"/>
              </a:rPr>
              <a:t>HADAMARD IN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1691640"/>
            <a:ext cx="5065776" cy="960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79" y="1691640"/>
            <a:ext cx="4773168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182B"/>
                </a:solidFill>
                <a:latin typeface="Cambria Math"/>
              </a:rPr>
              <a:t>H = 1⁄√2 ·  [  1    1  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182B"/>
                </a:solidFill>
                <a:latin typeface="Cambria Math"/>
              </a:rPr>
              <a:t>      [  1  −1  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2779776"/>
            <a:ext cx="5065776" cy="5029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79" y="2779776"/>
            <a:ext cx="47731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82B"/>
                </a:solidFill>
                <a:latin typeface="Cambria Math"/>
              </a:rPr>
              <a:t>G (α, β)ᵀ = ( g₀₀α + g₀₁β ,  g₁₀α + g₁₁β )ᵀ</a:t>
            </a:r>
            <a:r>
              <a:rPr sz="1000" b="0" i="0">
                <a:solidFill>
                  <a:srgbClr val="6B7A93"/>
                </a:solidFill>
                <a:latin typeface="Calibri"/>
              </a:rPr>
              <a:t>   (4)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3392424"/>
            <a:ext cx="5065776" cy="5029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79" y="3392424"/>
            <a:ext cx="47731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82B"/>
                </a:solidFill>
                <a:latin typeface="Cambria Math"/>
              </a:rPr>
              <a:t>H|0⟩ = 1⁄√2 ( |0⟩ + |1⟩ )</a:t>
            </a:r>
            <a:r>
              <a:rPr sz="1000" b="0" i="0">
                <a:solidFill>
                  <a:srgbClr val="6B7A93"/>
                </a:solidFill>
                <a:latin typeface="Calibri"/>
              </a:rPr>
              <a:t>   — uniform superposition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041648"/>
            <a:ext cx="506577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The canonical pattern for every gate application: a small matrix mixes a small set of amplitudes, and the cost is proportional to the size of that set.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10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 dirty="0">
                <a:solidFill>
                  <a:srgbClr val="2563EB"/>
                </a:solidFill>
                <a:latin typeface="Consolas"/>
              </a:rPr>
              <a:t>0</a:t>
            </a:r>
            <a:r>
              <a:rPr lang="en-US" sz="1050" b="1" i="0" spc="160" dirty="0">
                <a:solidFill>
                  <a:srgbClr val="2563EB"/>
                </a:solidFill>
                <a:latin typeface="Consolas"/>
              </a:rPr>
              <a:t>7</a:t>
            </a:r>
            <a:r>
              <a:rPr sz="1050" b="1" i="0" spc="160" dirty="0">
                <a:solidFill>
                  <a:srgbClr val="2563EB"/>
                </a:solidFill>
                <a:latin typeface="Consolas"/>
              </a:rPr>
              <a:t> · Methodology —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From amplitudes to observed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486400" cy="5029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188720"/>
            <a:ext cx="51937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182B"/>
                </a:solidFill>
                <a:latin typeface="Cambria Math"/>
              </a:rPr>
              <a:t>P(i) = |αᵢ|²</a:t>
            </a:r>
            <a:r>
              <a:rPr sz="1000" b="0" i="0">
                <a:solidFill>
                  <a:srgbClr val="6B7A93"/>
                </a:solidFill>
                <a:latin typeface="Calibri"/>
              </a:rPr>
              <a:t>   — Born rule   (7)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48640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" y="2066543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79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7C3AED"/>
                </a:solidFill>
                <a:latin typeface="Consolas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49424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Sampling &amp; collapse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69464"/>
            <a:ext cx="5084064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Measuring basis state |i⟩ yields outcome i with probability P(i), after which the state collapses to the sampled outcome.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00400"/>
            <a:ext cx="548640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" y="339242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2563EB"/>
                </a:solidFill>
                <a:latin typeface="Consola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575304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Repeated-shot sampling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895344"/>
            <a:ext cx="5084064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The draw is repeated across many shots; the empirical frequencies form the measurement histogram shown in the UI — the same view used to verify algorithms like Grover.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54880"/>
            <a:ext cx="137525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2563EB"/>
                </a:solidFill>
                <a:latin typeface="Calibri"/>
              </a:rPr>
              <a:t>●  </a:t>
            </a:r>
            <a:r>
              <a:rPr sz="1050">
                <a:solidFill>
                  <a:srgbClr val="6B7A93"/>
                </a:solidFill>
                <a:latin typeface="Consolas"/>
              </a:rPr>
              <a:t>shots: 1,024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5337" y="4754880"/>
            <a:ext cx="27249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DB2777"/>
                </a:solidFill>
                <a:latin typeface="Calibri"/>
              </a:rPr>
              <a:t>●  </a:t>
            </a:r>
            <a:r>
              <a:rPr sz="1050">
                <a:solidFill>
                  <a:srgbClr val="6B7A93"/>
                </a:solidFill>
                <a:latin typeface="Consolas"/>
              </a:rPr>
              <a:t>collapse → re-prepare per shot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188720"/>
            <a:ext cx="533095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3768699"/>
            <a:ext cx="457200" cy="16322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0050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3"/>
                </a:solidFill>
                <a:latin typeface="Consolas"/>
              </a:rPr>
              <a:t>|000⟩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14616" y="3792016"/>
            <a:ext cx="457200" cy="139903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23176" y="40050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3"/>
                </a:solidFill>
                <a:latin typeface="Consolas"/>
              </a:rPr>
              <a:t>|001⟩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45552" y="3815333"/>
            <a:ext cx="457200" cy="116586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54112" y="40050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3"/>
                </a:solidFill>
                <a:latin typeface="Consolas"/>
              </a:rPr>
              <a:t>|010⟩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76488" y="3792016"/>
            <a:ext cx="457200" cy="139903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40050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3"/>
                </a:solidFill>
                <a:latin typeface="Consolas"/>
              </a:rPr>
              <a:t>|011⟩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07424" y="3792016"/>
            <a:ext cx="457200" cy="139903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15984" y="40050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3"/>
                </a:solidFill>
                <a:latin typeface="Consolas"/>
              </a:rPr>
              <a:t>|100⟩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1973275"/>
            <a:ext cx="457200" cy="195864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46920" y="40050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B2777"/>
                </a:solidFill>
                <a:latin typeface="Consolas"/>
              </a:rPr>
              <a:t>|101⟩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69296" y="3792016"/>
            <a:ext cx="457200" cy="139903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77856" y="40050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3"/>
                </a:solidFill>
                <a:latin typeface="Consolas"/>
              </a:rPr>
              <a:t>|110⟩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00232" y="3768699"/>
            <a:ext cx="457200" cy="16322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08792" y="40050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93"/>
                </a:solidFill>
                <a:latin typeface="Consolas"/>
              </a:rPr>
              <a:t>|111⟩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931920"/>
            <a:ext cx="487375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4507992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alibri"/>
              </a:rPr>
              <a:t>Illustrative shot frequencies after amplitude amplification (e.g., Grover near peak)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11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 dirty="0">
                <a:solidFill>
                  <a:srgbClr val="2563EB"/>
                </a:solidFill>
                <a:latin typeface="Consolas"/>
              </a:rPr>
              <a:t>0</a:t>
            </a:r>
            <a:r>
              <a:rPr lang="en-US" sz="1050" b="1" spc="160" dirty="0">
                <a:solidFill>
                  <a:srgbClr val="2563EB"/>
                </a:solidFill>
                <a:latin typeface="Consolas"/>
              </a:rPr>
              <a:t>8</a:t>
            </a:r>
            <a:r>
              <a:rPr sz="1050" b="1" i="0" spc="160" dirty="0">
                <a:solidFill>
                  <a:srgbClr val="2563EB"/>
                </a:solidFill>
                <a:latin typeface="Consolas"/>
              </a:rPr>
              <a:t> · Proposed Novel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Beyond a minimal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63931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088" y="138074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2563EB"/>
                </a:solidFill>
                <a:latin typeface="Consolas"/>
              </a:rPr>
              <a:t>FEATURE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563624"/>
            <a:ext cx="3236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Stepwise inspection with breakpoints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57984"/>
            <a:ext cx="3236976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Place a breakpoint at any circuit column and execute step by step, observing the state after each gate — a debugger-oriented interaction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188720"/>
            <a:ext cx="363931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71416" y="138074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325880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7C3AED"/>
                </a:solidFill>
                <a:latin typeface="Consolas"/>
              </a:rPr>
              <a:t>FEATURE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1563624"/>
            <a:ext cx="3236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Reusable subcircuit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157984"/>
            <a:ext cx="3236976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Save any circuit as a single reusable block, internal state hidden behind a defined interface — even set breakpoints inside a subcircuit while paused.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6" y="1188720"/>
            <a:ext cx="363931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38744" y="1380744"/>
            <a:ext cx="13716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9056" y="1325880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DB2777"/>
                </a:solidFill>
                <a:latin typeface="Consolas"/>
              </a:rPr>
              <a:t>FEATURE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563624"/>
            <a:ext cx="3236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Entanglement highlighting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157984"/>
            <a:ext cx="3236976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Distinct visual cues mark qubit pairs or groups whose joint state is entangled — surfacing structure that amplitude vectors alone never show.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03320"/>
            <a:ext cx="363931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" y="3895344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840480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159E4A"/>
                </a:solidFill>
                <a:latin typeface="Consolas"/>
              </a:rPr>
              <a:t>FEATURE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078224"/>
            <a:ext cx="3236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Input / output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672584"/>
            <a:ext cx="3236976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Select input and output lines on the flattened circuit; the AI analyses each input line independently, then explains how the per-input results combine.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3703320"/>
            <a:ext cx="7415783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71416" y="3895344"/>
            <a:ext cx="13716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3840480"/>
            <a:ext cx="6848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D97706"/>
                </a:solidFill>
                <a:latin typeface="Consolas"/>
              </a:rPr>
              <a:t>FEATURE 5 — ONE MODULE, SWAPPABLE 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4078224"/>
            <a:ext cx="7013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82B"/>
                </a:solidFill>
                <a:latin typeface="Calibri"/>
              </a:rPr>
              <a:t>Explainer AI &amp; Builder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4398264"/>
            <a:ext cx="7013447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82B"/>
                </a:solidFill>
                <a:latin typeface="Calibri"/>
              </a:rPr>
              <a:t>Explainer: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circuit → textual description.   </a:t>
            </a:r>
            <a:r>
              <a:rPr sz="1100" b="1" i="0">
                <a:solidFill>
                  <a:srgbClr val="0F182B"/>
                </a:solidFill>
                <a:latin typeface="Calibri"/>
              </a:rPr>
              <a:t>Builder: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textual description → circuit.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Backend: the team's locally hosted model in Ollama — with the design kept swappable to a remote API. No statement is made about either model's accuracy or performance.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08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 dirty="0">
                <a:solidFill>
                  <a:srgbClr val="2563EB"/>
                </a:solidFill>
                <a:latin typeface="Consolas"/>
              </a:rPr>
              <a:t>0</a:t>
            </a:r>
            <a:r>
              <a:rPr lang="en-US" sz="1050" b="1" i="0" spc="160" dirty="0">
                <a:solidFill>
                  <a:srgbClr val="2563EB"/>
                </a:solidFill>
                <a:latin typeface="Consolas"/>
              </a:rPr>
              <a:t>9</a:t>
            </a:r>
            <a:r>
              <a:rPr sz="1050" b="1" i="0" spc="160" dirty="0">
                <a:solidFill>
                  <a:srgbClr val="2563EB"/>
                </a:solidFill>
                <a:latin typeface="Consolas"/>
              </a:rPr>
              <a:t> 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The UI holds no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The UI issues high-level operations like </a:t>
            </a:r>
            <a:r>
              <a:rPr sz="1250" b="1" i="0">
                <a:solidFill>
                  <a:srgbClr val="0F182B"/>
                </a:solidFill>
                <a:latin typeface="Calibri"/>
              </a:rPr>
              <a:t>“H gate on qubit 2 at column 4”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— the core alone determines the mathematical meaning. The core is fully functional with no UI attached: the precondition for automated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977639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DD0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65960"/>
            <a:ext cx="3465575" cy="292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Frontend / UI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Circuit Editor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Gate Toolbox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State Displays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Debugger / Breakpoints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AI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08392" y="1783080"/>
            <a:ext cx="3977639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7C3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3" y="1965960"/>
            <a:ext cx="3465575" cy="292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7C3AED"/>
                </a:solidFill>
                <a:latin typeface="Calibri"/>
              </a:rPr>
              <a:t>Simulation Core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Circuit Data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Quantum State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Gate Library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Execution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Measurement / Shots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0F182B"/>
                </a:solidFill>
                <a:latin typeface="Calibri"/>
              </a:rPr>
              <a:t>Algorithms — DJ · Grover · QFT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31720"/>
            <a:ext cx="2971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“H on qubit 2, column 4”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09160" y="2606040"/>
            <a:ext cx="2788920" cy="274320"/>
          </a:xfrm>
          <a:prstGeom prst="rightArrow">
            <a:avLst/>
          </a:prstGeom>
          <a:solidFill>
            <a:srgbClr val="DEE7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eft Arrow 11"/>
          <p:cNvSpPr/>
          <p:nvPr/>
        </p:nvSpPr>
        <p:spPr>
          <a:xfrm>
            <a:off x="4709160" y="3429000"/>
            <a:ext cx="2788920" cy="274320"/>
          </a:xfrm>
          <a:prstGeom prst="leftArrow">
            <a:avLst/>
          </a:prstGeom>
          <a:solidFill>
            <a:srgbClr val="EBE1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749039"/>
            <a:ext cx="2971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state vector, probabilities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285232"/>
            <a:ext cx="21872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7C3AED"/>
                </a:solidFill>
                <a:latin typeface="Calibri"/>
              </a:rPr>
              <a:t>●  </a:t>
            </a:r>
            <a:r>
              <a:rPr sz="1050">
                <a:solidFill>
                  <a:srgbClr val="6B7A93"/>
                </a:solidFill>
                <a:latin typeface="Calibri"/>
              </a:rPr>
              <a:t>circuits serialize to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7324" y="5285232"/>
            <a:ext cx="482071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2563EB"/>
                </a:solidFill>
                <a:latin typeface="Calibri"/>
              </a:rPr>
              <a:t>●  </a:t>
            </a:r>
            <a:r>
              <a:rPr sz="1050">
                <a:solidFill>
                  <a:srgbClr val="6B7A93"/>
                </a:solidFill>
                <a:latin typeface="Calibri"/>
              </a:rPr>
              <a:t>dependency order: complex → state → gates → executor → measurement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85201" y="5285232"/>
            <a:ext cx="27797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159E4A"/>
                </a:solidFill>
                <a:latin typeface="Calibri"/>
              </a:rPr>
              <a:t>●  </a:t>
            </a:r>
            <a:r>
              <a:rPr sz="1050">
                <a:solidFill>
                  <a:srgbClr val="6B7A93"/>
                </a:solidFill>
                <a:latin typeface="Calibri"/>
              </a:rPr>
              <a:t>headless core → script-driven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09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10 · AI Circuit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How the AI reads a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The explainer AI does not treat a circuit as a black box — it reads it the way the simulator does: flattened, gate by gate, junction by junction, all the way to the observed measurement.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48716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1929384"/>
            <a:ext cx="1371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7C3AED"/>
                </a:solidFill>
                <a:latin typeface="Consolas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12263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Flatten the circuit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32303"/>
            <a:ext cx="2084832" cy="978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The AI sees the fully flattened circuit — any subcircuits present are decomposed into their individual gate logic.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58668" y="2523744"/>
            <a:ext cx="274320" cy="219456"/>
          </a:xfrm>
          <a:prstGeom prst="rightArrow">
            <a:avLst/>
          </a:prstGeom>
          <a:solidFill>
            <a:srgbClr val="D3DFF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01568" y="1737360"/>
            <a:ext cx="248716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02736" y="1929384"/>
            <a:ext cx="1371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13048" y="1874519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2563EB"/>
                </a:solidFill>
                <a:latin typeface="Consola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112263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Trace every qubit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432303"/>
            <a:ext cx="2084832" cy="978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Starting from each starting qubit, the AI follows it gate by gate through the whole circuit.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57316" y="2523744"/>
            <a:ext cx="274320" cy="219456"/>
          </a:xfrm>
          <a:prstGeom prst="rightArrow">
            <a:avLst/>
          </a:prstGeom>
          <a:solidFill>
            <a:srgbClr val="D3DFF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0216" y="1737360"/>
            <a:ext cx="248716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01383" y="1929384"/>
            <a:ext cx="137160" cy="457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11696" y="1874519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DB2777"/>
                </a:solidFill>
                <a:latin typeface="Consolas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3" y="2112263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Analyze each junction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3" y="2432303"/>
            <a:ext cx="2084832" cy="978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At every junction, the state is matched and analyzed — superposition, entanglement and phase.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55964" y="2523744"/>
            <a:ext cx="274320" cy="219456"/>
          </a:xfrm>
          <a:prstGeom prst="rightArrow">
            <a:avLst/>
          </a:prstGeom>
          <a:solidFill>
            <a:srgbClr val="D3DFF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98864" y="1737360"/>
            <a:ext cx="248716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00032" y="1929384"/>
            <a:ext cx="137160" cy="45720"/>
          </a:xfrm>
          <a:prstGeom prst="rect">
            <a:avLst/>
          </a:prstGeom>
          <a:solidFill>
            <a:srgbClr val="15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10344" y="1874519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159E4A"/>
                </a:solidFill>
                <a:latin typeface="Consolas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112263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Explain to measurement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432303"/>
            <a:ext cx="2084832" cy="978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Calibri"/>
              </a:rPr>
              <a:t>The trace runs all the way to the observed measurement, grounding the explanation in real outcomes.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03320"/>
            <a:ext cx="55229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4088" y="3895344"/>
            <a:ext cx="13716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840480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D97706"/>
                </a:solidFill>
                <a:latin typeface="Consolas"/>
              </a:rPr>
              <a:t>AIM — BUILDER AI AS THE NEXT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40782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From explaining to building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4398264"/>
            <a:ext cx="512064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Mastering gate-level explanation is exactly the skill the Builder AI needs in reverse — turning a natural-language description into a working circuit.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6" y="3703320"/>
            <a:ext cx="5522976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64224" y="3895344"/>
            <a:ext cx="137160" cy="45720"/>
          </a:xfrm>
          <a:prstGeom prst="rect">
            <a:avLst/>
          </a:prstGeom>
          <a:solidFill>
            <a:srgbClr val="0E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74536" y="3840480"/>
            <a:ext cx="4956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E7FB8"/>
                </a:solidFill>
                <a:latin typeface="Consolas"/>
              </a:rPr>
              <a:t>HOSTED LOCALLY — OLLAMA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40782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82B"/>
                </a:solidFill>
                <a:latin typeface="Calibri"/>
              </a:rPr>
              <a:t>Local-first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4398264"/>
            <a:ext cx="512064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The AI module runs on a locally hosted model in Ollama — all analysis stays on the team's machine. The design remains swappable to a remote API.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193792"/>
            <a:ext cx="11183112" cy="621792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193792"/>
            <a:ext cx="1072591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Grounded, not guessed: </a:t>
            </a:r>
            <a:r>
              <a:rPr sz="1250" b="0" i="0">
                <a:solidFill>
                  <a:srgbClr val="0F182B"/>
                </a:solidFill>
                <a:latin typeface="Calibri"/>
              </a:rPr>
              <a:t>because the AI traces the real state evolution across every junction, its explanations reflect what the simulator actually computes.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11 · 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Six hierarchical layers of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11831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9224" y="13350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DC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2563EB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170432"/>
            <a:ext cx="288036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Complex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170432"/>
            <a:ext cx="72969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Unit tests for scalar primitives — addition, multiplication, conjugation, modulus — against exact analytical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11831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" y="2084831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AD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7C3AED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920240"/>
            <a:ext cx="288036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Canonical state transformations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920240"/>
            <a:ext cx="72969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H|0⟩, X|0⟩, Z|1⟩ must produce textbook state amplitudes.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70048"/>
            <a:ext cx="111831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9224" y="2834639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9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DB2777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70048"/>
            <a:ext cx="288036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State invariants &amp; 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70048"/>
            <a:ext cx="72969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Every gate application preserves unitarity and norm conservation: |α|² + |β|² =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19856"/>
            <a:ext cx="111831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9224" y="358444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8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D97706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419856"/>
            <a:ext cx="288036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Multi-qubit circuits &amp; algebraic identities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419856"/>
            <a:ext cx="72969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Entanglement via Bell &amp; GHZ circuits · H² = X² = I · quantum teleportation as a composite integration benchmark.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69663"/>
            <a:ext cx="111831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9224" y="4334255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D9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59E4A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4169663"/>
            <a:ext cx="288036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Algorithmic benchmarks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169663"/>
            <a:ext cx="72969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Deutsch–Jozsa, Grover, and QFT evaluated against known theoretical results — e.g., Grover's success rate at peak amplification.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19472"/>
            <a:ext cx="111831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9224" y="508406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D8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0E7FB8"/>
                </a:solidFill>
                <a:latin typeface="Consola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919472"/>
            <a:ext cx="288036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Differential testing vs reference libraries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919472"/>
            <a:ext cx="729691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m = Σ kₒₚ arity factors × 6 amplitude composition profiles → 6m serialized test states executed and benchmarked against Qiskit &amp; Cirq.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87568"/>
            <a:ext cx="11183112" cy="502920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687568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Headless core: </a:t>
            </a:r>
            <a:r>
              <a:rPr sz="1150" b="0" i="0">
                <a:solidFill>
                  <a:srgbClr val="0F182B"/>
                </a:solidFill>
                <a:latin typeface="Calibri"/>
              </a:rPr>
              <a:t>every layer is exercisable by a script-driven test runner, with no manual interaction.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12 · Development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Eight phases, bottom-up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67919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2313432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40">
                <a:solidFill>
                  <a:srgbClr val="2563EB"/>
                </a:solidFill>
                <a:latin typeface="Consolas"/>
              </a:rPr>
              <a:t>PHASE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82B"/>
                </a:solidFill>
                <a:latin typeface="Calibri"/>
              </a:rPr>
              <a:t>Architecture &amp; data model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Fix the architecture and the data-model specification.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34440"/>
            <a:ext cx="267919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371600"/>
            <a:ext cx="2313432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40">
                <a:solidFill>
                  <a:srgbClr val="7C3AED"/>
                </a:solidFill>
                <a:latin typeface="Consolas"/>
              </a:rPr>
              <a:t>PHASE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82B"/>
                </a:solidFill>
                <a:latin typeface="Calibri"/>
              </a:rPr>
              <a:t>Mathematical core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Complex numbers and the quantum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267919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2313432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40">
                <a:solidFill>
                  <a:srgbClr val="DB2777"/>
                </a:solidFill>
                <a:latin typeface="Consolas"/>
              </a:rPr>
              <a:t>PHASE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82B"/>
                </a:solidFill>
                <a:latin typeface="Calibri"/>
              </a:rPr>
              <a:t>Circuit engine &amp; measurement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Execution engine, gate application, shots &amp; collapse.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234440"/>
            <a:ext cx="267919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1371600"/>
            <a:ext cx="2313432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40">
                <a:solidFill>
                  <a:srgbClr val="159E4A"/>
                </a:solidFill>
                <a:latin typeface="Consolas"/>
              </a:rPr>
              <a:t>PHASE 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82B"/>
                </a:solidFill>
                <a:latin typeface="Calibri"/>
              </a:rPr>
              <a:t>UI + explainer AI begins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Minimal drag-and-drop editor; explainer AI development starts.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08960"/>
            <a:ext cx="267919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2313432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40">
                <a:solidFill>
                  <a:srgbClr val="D97706"/>
                </a:solidFill>
                <a:latin typeface="Consolas"/>
              </a:rPr>
              <a:t>PHASE 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82B"/>
                </a:solidFill>
                <a:latin typeface="Calibri"/>
              </a:rPr>
              <a:t>Visualization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Probabilities, amplitudes, state-vector text, histogram.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108960"/>
            <a:ext cx="267919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3246120"/>
            <a:ext cx="2313432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40">
                <a:solidFill>
                  <a:srgbClr val="0E7FB8"/>
                </a:solidFill>
                <a:latin typeface="Consolas"/>
              </a:rPr>
              <a:t>PHASE 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82B"/>
                </a:solidFill>
                <a:latin typeface="Calibri"/>
              </a:rPr>
              <a:t>Algorithms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Deutsch–Jozsa, Grover, Quantum Fourier Transform.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08960"/>
            <a:ext cx="267919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246120"/>
            <a:ext cx="2313432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40">
                <a:solidFill>
                  <a:srgbClr val="2563EB"/>
                </a:solidFill>
                <a:latin typeface="Consolas"/>
              </a:rPr>
              <a:t>PHASE 7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82B"/>
                </a:solidFill>
                <a:latin typeface="Calibri"/>
              </a:rPr>
              <a:t>Persistence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Save &amp; share circuits as JSON and via URL.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3108960"/>
            <a:ext cx="267919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3246120"/>
            <a:ext cx="2313432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 i="0" spc="140">
                <a:solidFill>
                  <a:srgbClr val="7C3AED"/>
                </a:solidFill>
                <a:latin typeface="Consolas"/>
              </a:rPr>
              <a:t>PHASE 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82B"/>
                </a:solidFill>
                <a:latin typeface="Calibri"/>
              </a:rPr>
              <a:t>Polish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Refinement, edge cases, and final presentation.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82B"/>
                </a:solidFill>
                <a:latin typeface="Calibri"/>
              </a:rPr>
              <a:t>Math first, UI second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— mirroring the core's dependency order, so each phase is testable on its 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13 · Development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Eight weeks — mockup schedule from October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All eight phases distributed across an 8-week window starting October 5 — sequenced by dependency, bar length reflecting complexity. (Mockup)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61129" y="1911096"/>
            <a:ext cx="1032128" cy="40827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25387" y="1911096"/>
            <a:ext cx="1032128" cy="40827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89645" y="1911096"/>
            <a:ext cx="1032128" cy="40827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653903" y="1911096"/>
            <a:ext cx="1032128" cy="40827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911096"/>
            <a:ext cx="0" cy="40827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1129" y="1911096"/>
            <a:ext cx="0" cy="40827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93258" y="1911096"/>
            <a:ext cx="0" cy="40827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5387" y="1911096"/>
            <a:ext cx="0" cy="40827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57516" y="1911096"/>
            <a:ext cx="0" cy="40827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89645" y="1911096"/>
            <a:ext cx="0" cy="40827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21774" y="1911096"/>
            <a:ext cx="0" cy="40827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653903" y="1911096"/>
            <a:ext cx="0" cy="40827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86032" y="1911096"/>
            <a:ext cx="0" cy="40827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1463040"/>
            <a:ext cx="10321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F182B"/>
                </a:solidFill>
                <a:latin typeface="Consolas"/>
              </a:rPr>
              <a:t>W1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A93"/>
                </a:solidFill>
                <a:latin typeface="Consolas"/>
              </a:rPr>
              <a:t>Oct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1129" y="1463040"/>
            <a:ext cx="10321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F182B"/>
                </a:solidFill>
                <a:latin typeface="Consolas"/>
              </a:rPr>
              <a:t>W2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A93"/>
                </a:solidFill>
                <a:latin typeface="Consolas"/>
              </a:rPr>
              <a:t>Oct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3258" y="1463040"/>
            <a:ext cx="10321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F182B"/>
                </a:solidFill>
                <a:latin typeface="Consolas"/>
              </a:rPr>
              <a:t>W3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A93"/>
                </a:solidFill>
                <a:latin typeface="Consolas"/>
              </a:rPr>
              <a:t>Oct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387" y="1463040"/>
            <a:ext cx="10321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F182B"/>
                </a:solidFill>
                <a:latin typeface="Consolas"/>
              </a:rPr>
              <a:t>W4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A93"/>
                </a:solidFill>
                <a:latin typeface="Consolas"/>
              </a:rPr>
              <a:t>Oct 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7516" y="1463040"/>
            <a:ext cx="10321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F182B"/>
                </a:solidFill>
                <a:latin typeface="Consolas"/>
              </a:rPr>
              <a:t>W5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A93"/>
                </a:solidFill>
                <a:latin typeface="Consolas"/>
              </a:rPr>
              <a:t>Nov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9645" y="1463040"/>
            <a:ext cx="10321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F182B"/>
                </a:solidFill>
                <a:latin typeface="Consolas"/>
              </a:rPr>
              <a:t>W6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A93"/>
                </a:solidFill>
                <a:latin typeface="Consolas"/>
              </a:rPr>
              <a:t>Nov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1774" y="1463040"/>
            <a:ext cx="10321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F182B"/>
                </a:solidFill>
                <a:latin typeface="Consolas"/>
              </a:rPr>
              <a:t>W7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A93"/>
                </a:solidFill>
                <a:latin typeface="Consolas"/>
              </a:rPr>
              <a:t>Nov 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3903" y="1463040"/>
            <a:ext cx="10321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F182B"/>
                </a:solidFill>
                <a:latin typeface="Consolas"/>
              </a:rPr>
              <a:t>W8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A93"/>
                </a:solidFill>
                <a:latin typeface="Consolas"/>
              </a:rPr>
              <a:t>Nov 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975104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82B"/>
                </a:solidFill>
                <a:latin typeface="Calibri"/>
              </a:rPr>
              <a:t>P1 · Architecture &amp; data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2007108"/>
            <a:ext cx="940688" cy="338328"/>
          </a:xfrm>
          <a:prstGeom prst="roundRect">
            <a:avLst>
              <a:gd name="adj" fmla="val 50000"/>
            </a:avLst>
          </a:prstGeom>
          <a:solidFill>
            <a:srgbClr val="B9CDF8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0" y="2007108"/>
            <a:ext cx="94068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Consolas"/>
              </a:rPr>
              <a:t>1 wk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482596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82B"/>
                </a:solidFill>
                <a:latin typeface="Calibri"/>
              </a:rPr>
              <a:t>P2 · Mathematical core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6849" y="2514600"/>
            <a:ext cx="1972817" cy="338328"/>
          </a:xfrm>
          <a:prstGeom prst="roundRect">
            <a:avLst>
              <a:gd name="adj" fmla="val 50000"/>
            </a:avLst>
          </a:prstGeom>
          <a:solidFill>
            <a:srgbClr val="D5BFF9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06849" y="2514600"/>
            <a:ext cx="1972817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Consolas"/>
              </a:rPr>
              <a:t>2 wks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299008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82B"/>
                </a:solidFill>
                <a:latin typeface="Calibri"/>
              </a:rPr>
              <a:t>P3 · Circuit engine &amp; measurement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38978" y="3022092"/>
            <a:ext cx="1972817" cy="338328"/>
          </a:xfrm>
          <a:prstGeom prst="roundRect">
            <a:avLst>
              <a:gd name="adj" fmla="val 50000"/>
            </a:avLst>
          </a:prstGeom>
          <a:solidFill>
            <a:srgbClr val="F3B9D3"/>
          </a:solidFill>
          <a:ln w="15875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8978" y="3022092"/>
            <a:ext cx="1972817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B2777"/>
                </a:solidFill>
                <a:latin typeface="Consolas"/>
              </a:rPr>
              <a:t>2 wks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49758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82B"/>
                </a:solidFill>
                <a:latin typeface="Calibri"/>
              </a:rPr>
              <a:t>P4 · UI + explainer AI begins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71106" y="3529584"/>
            <a:ext cx="1972817" cy="338328"/>
          </a:xfrm>
          <a:prstGeom prst="roundRect">
            <a:avLst>
              <a:gd name="adj" fmla="val 50000"/>
            </a:avLst>
          </a:prstGeom>
          <a:solidFill>
            <a:srgbClr val="B4DFC5"/>
          </a:solidFill>
          <a:ln w="15875">
            <a:solidFill>
              <a:srgbClr val="15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71106" y="3529584"/>
            <a:ext cx="1972817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9E4A"/>
                </a:solidFill>
                <a:latin typeface="Consolas"/>
              </a:rPr>
              <a:t>2 wks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005072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82B"/>
                </a:solidFill>
                <a:latin typeface="Calibri"/>
              </a:rPr>
              <a:t>P5 · Visualization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03236" y="4037076"/>
            <a:ext cx="1972817" cy="338328"/>
          </a:xfrm>
          <a:prstGeom prst="roundRect">
            <a:avLst>
              <a:gd name="adj" fmla="val 50000"/>
            </a:avLst>
          </a:prstGeom>
          <a:solidFill>
            <a:srgbClr val="F2D3A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03236" y="4037076"/>
            <a:ext cx="1972817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7706"/>
                </a:solidFill>
                <a:latin typeface="Consolas"/>
              </a:rPr>
              <a:t>2 wks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512564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82B"/>
                </a:solidFill>
                <a:latin typeface="Calibri"/>
              </a:rPr>
              <a:t>P6 · Algorithms — DJ · Grover · QFT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35365" y="4544568"/>
            <a:ext cx="1972817" cy="338328"/>
          </a:xfrm>
          <a:prstGeom prst="roundRect">
            <a:avLst>
              <a:gd name="adj" fmla="val 50000"/>
            </a:avLst>
          </a:prstGeom>
          <a:solidFill>
            <a:srgbClr val="B1D6E8"/>
          </a:solidFill>
          <a:ln w="15875">
            <a:solidFill>
              <a:srgbClr val="0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35365" y="4544568"/>
            <a:ext cx="1972817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FB8"/>
                </a:solidFill>
                <a:latin typeface="Consolas"/>
              </a:rPr>
              <a:t>2 wks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020056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82B"/>
                </a:solidFill>
                <a:latin typeface="Calibri"/>
              </a:rPr>
              <a:t>P7 · Persistence — JSON · URL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67494" y="5052060"/>
            <a:ext cx="940688" cy="338328"/>
          </a:xfrm>
          <a:prstGeom prst="roundRect">
            <a:avLst>
              <a:gd name="adj" fmla="val 50000"/>
            </a:avLst>
          </a:prstGeom>
          <a:solidFill>
            <a:srgbClr val="B9CDF8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67494" y="5052060"/>
            <a:ext cx="94068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Consolas"/>
              </a:rPr>
              <a:t>1 wk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52754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82B"/>
                </a:solidFill>
                <a:latin typeface="Calibri"/>
              </a:rPr>
              <a:t>P8 · Polish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99623" y="5559552"/>
            <a:ext cx="940688" cy="338328"/>
          </a:xfrm>
          <a:prstGeom prst="roundRect">
            <a:avLst>
              <a:gd name="adj" fmla="val 50000"/>
            </a:avLst>
          </a:prstGeom>
          <a:solidFill>
            <a:srgbClr val="D5BFF9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699623" y="5559552"/>
            <a:ext cx="94068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Consolas"/>
              </a:rPr>
              <a:t>1 wk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057900"/>
            <a:ext cx="111831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82B"/>
                </a:solidFill>
                <a:latin typeface="Calibri"/>
              </a:rPr>
              <a:t>Dependency-driven: </a:t>
            </a:r>
            <a:r>
              <a:rPr sz="1100" b="0" i="0">
                <a:solidFill>
                  <a:srgbClr val="475569"/>
                </a:solidFill>
                <a:latin typeface="Calibri"/>
              </a:rPr>
              <a:t>each phase starts as soon as its prerequisite is in place — the mathematical core (W2–3) feeds the circuit engine (W3–4), and the algorithms (W6–7) need a working engine. Longer bars mark higher-complexity work.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65760"/>
            <a:ext cx="2743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74320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2563EB"/>
                </a:solidFill>
                <a:latin typeface="Consolas"/>
              </a:rPr>
              <a:t>14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82B"/>
                </a:solidFill>
                <a:latin typeface="Calibri"/>
              </a:rPr>
              <a:t>A virtual quantum lab in every browser tab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5522976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512" y="15407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4E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9E4A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07008"/>
            <a:ext cx="47457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82B"/>
                </a:solidFill>
                <a:latin typeface="Calibri"/>
              </a:rPr>
              <a:t>Zero-install, zero-SDK —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runs entirely client-side; no quantum hardware, no existing SDKs, no server runtime.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207008"/>
            <a:ext cx="5522976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27648" y="15407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4E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9E4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7416" y="1207008"/>
            <a:ext cx="47457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82B"/>
                </a:solidFill>
                <a:latin typeface="Calibri"/>
              </a:rPr>
              <a:t>O(2ⁿ) per gate —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explicit state vectors with target-only gate application; the 2ⁿ×2ⁿ unitary is never built.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86000"/>
            <a:ext cx="5522976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7512" y="26197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4E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9E4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86000"/>
            <a:ext cx="47457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82B"/>
                </a:solidFill>
                <a:latin typeface="Calibri"/>
              </a:rPr>
              <a:t>≥ 3 canonical algorithms —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Deutsch–Jozsa, Grover, and QFT, verified against their theoretical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86000"/>
            <a:ext cx="5522976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27648" y="26197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4E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9E4A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2286000"/>
            <a:ext cx="47457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82B"/>
                </a:solidFill>
                <a:latin typeface="Calibri"/>
              </a:rPr>
              <a:t>Custom drag-and-drop editor —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drives a UI-free simulation core that is fully testable on its 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64991"/>
            <a:ext cx="5522976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7512" y="36987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4E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9E4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364991"/>
            <a:ext cx="47457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82B"/>
                </a:solidFill>
                <a:latin typeface="Calibri"/>
              </a:rPr>
              <a:t>Novel contributions —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breakpoint stepwise inspection, reusable subcircuits, entanglement highlighting, and an AI module with a swappable backend.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3364991"/>
            <a:ext cx="5522976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27648" y="36987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4E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159E4A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6" y="3364991"/>
            <a:ext cx="47457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82B"/>
                </a:solidFill>
                <a:latin typeface="Calibri"/>
              </a:rPr>
              <a:t>Learning by building —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the team gains deep understanding of quantum circuits and algorithms by implementing them from scratch.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63440"/>
            <a:ext cx="11183112" cy="777240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107259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Our vision: </a:t>
            </a:r>
            <a:r>
              <a:rPr sz="1300" b="0" i="0">
                <a:solidFill>
                  <a:srgbClr val="0F182B"/>
                </a:solidFill>
                <a:latin typeface="Calibri"/>
              </a:rPr>
              <a:t>the perfect open-access, easy-to-use virtual laboratory — teaching the next generation of students and researchers, and supporting the current 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-1554480"/>
            <a:ext cx="4754880" cy="4754880"/>
          </a:xfrm>
          <a:prstGeom prst="ellipse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ED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0F182B"/>
                </a:solidFill>
                <a:latin typeface="Calibr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87168"/>
            <a:ext cx="9994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Questions &amp; discussion are welcome — let's open the black box of quantum circuits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4857" y="3246120"/>
            <a:ext cx="16480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2563EB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Aoutul Nabi Purna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9171" y="3246120"/>
            <a:ext cx="130315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7C3AED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Shishir Dhar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8626" y="3246120"/>
            <a:ext cx="137212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DB2777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Shihab Sharar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77052" y="3246120"/>
            <a:ext cx="219978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00">
                <a:solidFill>
                  <a:srgbClr val="159E4A"/>
                </a:solidFill>
                <a:latin typeface="Calibri"/>
              </a:rPr>
              <a:t>●  </a:t>
            </a:r>
            <a:r>
              <a:rPr sz="1100">
                <a:solidFill>
                  <a:srgbClr val="6B7A93"/>
                </a:solidFill>
                <a:latin typeface="Calibri"/>
              </a:rPr>
              <a:t>Md. Iftikhar Alam Hrithik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93"/>
                </a:solidFill>
                <a:latin typeface="Consolas"/>
              </a:rPr>
              <a:t>{aoutul.purna.241, shishir.dhar.241, shihab.sharar.241, iftikhar.hrithik.241}@northsouth.edu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93"/>
                </a:solidFill>
                <a:latin typeface="Calibri"/>
              </a:rPr>
              <a:t>SimQC — Group 1 · CSE299.3 · North South University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28232"/>
            <a:ext cx="11183112" cy="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82B"/>
                </a:solidFill>
                <a:latin typeface="Calibri"/>
              </a:rPr>
              <a:t>Group 1</a:t>
            </a:r>
            <a:r>
              <a:rPr sz="950" b="0" i="0">
                <a:solidFill>
                  <a:srgbClr val="6B7A93"/>
                </a:solidFill>
                <a:latin typeface="Calibri"/>
              </a:rPr>
              <a:t>  ·  CSE299.3 — Aoutul Nabi Purna · Shishir Dhar · Shihab Sharar · Md. Iftikhar Alam Hrithik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649224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93"/>
                </a:solidFill>
                <a:latin typeface="Consola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3073</Words>
  <Application>Microsoft Office PowerPoint</Application>
  <PresentationFormat>Widescreen</PresentationFormat>
  <Paragraphs>358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SimQC — Group 1 Presentation</dc:title>
  <dc:subject/>
  <dc:creator>Aoutul Nabi Purna;Shishir Dhar;Shihab Sharar;Md. Iftikhar Alam Hrithik</dc:creator>
  <cp:keywords/>
  <dc:description>generated using python-pptx</dc:description>
  <cp:lastModifiedBy>shihabsharar158@gmail.com</cp:lastModifiedBy>
  <cp:revision>2</cp:revision>
  <dcterms:created xsi:type="dcterms:W3CDTF">2013-01-27T09:14:16Z</dcterms:created>
  <dcterms:modified xsi:type="dcterms:W3CDTF">2026-10-04T17:01:04Z</dcterms:modified>
  <cp:category/>
</cp:coreProperties>
</file>