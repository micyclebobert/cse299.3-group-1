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82" d="100"/>
          <a:sy n="82" d="100"/>
        </p:scale>
        <p:origin x="710" y="7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11932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7003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11A0694-3B0C-4F24-B857-8A0A37E1FD2B}" type="datetimeFigureOut">
              <a:rPr lang="en-US"/>
              <a:t>10/4/2026</a:t>
            </a:fld>
            <a:endParaRPr lang="en-US"/>
          </a:p>
        </p:txBody>
      </p:sp>
      <p:sp>
        <p:nvSpPr>
          <p:cNvPr id="118865536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2976228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2628722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727134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9129FD3-A518-4934-A423-EBB00EDD734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557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8677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23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04B94F-EEDA-5CA0-77F2-D0563FC37390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358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5911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7054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A55C54-F2CB-8578-CE38-55175C9C6C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8454D1-894B-8E70-1CE7-6D40013E42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E5075B-3BD1-A0D4-6017-F8A87F6891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8FDCEC-928A-E426-9E47-11841FFE3D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6493A1-601E-0EA2-4330-D272262E8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42947D-2209-EE96-AF23-1D73040336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2553E6-ED4F-33E3-0FD3-FDA9E74C12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D3283A-30FD-46BA-1AB7-03F2C75D0A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2B661-4CCE-5244-9472-3B8D04E436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DC98B-B8E3-C578-9E82-6E51F3B0B4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D6B7B-C098-6BBB-F365-BC8AE96D8B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75614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1758688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Open by saying: this single 2×2 matrix is what makes quantum computing work</a:t>
            </a:r>
            <a:endParaRPr/>
          </a:p>
          <a:p>
            <a:pPr>
              <a:defRPr/>
            </a:pPr>
            <a:r>
              <a:rPr/>
              <a:t>• A definite bit (|0&gt;) becomes an equal superposition — 50% chance of either outcome</a:t>
            </a:r>
            <a:endParaRPr/>
          </a:p>
          <a:p>
            <a:pPr>
              <a:defRPr/>
            </a:pPr>
            <a:r>
              <a:rPr/>
              <a:t>• The number 1/√2 ≈ 0.707 will appear throughout the talk — that's where it comes from</a:t>
            </a:r>
            <a:endParaRPr/>
          </a:p>
          <a:p>
            <a:pPr>
              <a:defRPr/>
            </a:pPr>
            <a:r>
              <a:rPr/>
              <a:t>• In our kernel we never build the full 2ⁿ×2ⁿ matrix — we apply the 2×2 to amplitude pairs, cost O(2ⁿ) per gate</a:t>
            </a:r>
            <a:endParaRPr/>
          </a:p>
          <a:p>
            <a:pPr>
              <a:defRPr/>
            </a:pPr>
            <a:r>
              <a:rPr/>
              <a:t>• Advance to next slide after: "and that's every gate in quantum computing"</a:t>
            </a:r>
            <a:endParaRPr/>
          </a:p>
        </p:txBody>
      </p:sp>
      <p:sp>
        <p:nvSpPr>
          <p:cNvPr id="85253837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51273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9040397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CNOT rule: control qubit decides whether target flips</a:t>
            </a:r>
            <a:endParaRPr/>
          </a:p>
          <a:p>
            <a:pPr>
              <a:defRPr/>
            </a:pPr>
            <a:r>
              <a:rPr/>
              <a:t>• Recipe: H on q0 then CNOT(q0→q1) on |00&gt; produces the Bell state (0.707, 0, 0, 0.707)</a:t>
            </a:r>
            <a:endParaRPr/>
          </a:p>
          <a:p>
            <a:pPr>
              <a:defRPr/>
            </a:pPr>
            <a:r>
              <a:rPr/>
              <a:t>• Histogram: 50% |00&gt; + 50% |11&gt;, zero mixed states — perfect correlation</a:t>
            </a:r>
            <a:endParaRPr/>
          </a:p>
          <a:p>
            <a:pPr>
              <a:defRPr/>
            </a:pPr>
            <a:r>
              <a:rPr/>
              <a:t>• Kernel detail: CNOT is pure amplitude swapping (a permutation), no floating-point ops</a:t>
            </a:r>
            <a:endParaRPr/>
          </a:p>
          <a:p>
            <a:pPr>
              <a:defRPr/>
            </a:pPr>
            <a:r>
              <a:rPr/>
              <a:t>• Verified against textbook matrix method to 10^-12</a:t>
            </a:r>
            <a:endParaRPr/>
          </a:p>
          <a:p>
            <a:pPr>
              <a:defRPr/>
            </a:pPr>
            <a:r>
              <a:rPr/>
              <a:t>• Pivot line for the talk: "Now imagine 10 qubits" — bridge to next slide</a:t>
            </a:r>
            <a:endParaRPr/>
          </a:p>
        </p:txBody>
      </p:sp>
      <p:sp>
        <p:nvSpPr>
          <p:cNvPr id="158149131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07358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615950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The contrast IS the slide: the numbers are mathematically correct but reveal nothing</a:t>
            </a:r>
            <a:endParaRPr/>
          </a:p>
          <a:p>
            <a:pPr>
              <a:defRPr/>
            </a:pPr>
            <a:r>
              <a:rPr/>
              <a:t>• Left panel looks like a debug console — shows what the simulator outputs</a:t>
            </a:r>
            <a:endParaRPr/>
          </a:p>
          <a:p>
            <a:pPr>
              <a:defRPr/>
            </a:pPr>
            <a:r>
              <a:rPr/>
              <a:t>• Right card spells out what those numbers actually mean in plain language</a:t>
            </a:r>
            <a:endParaRPr/>
          </a:p>
          <a:p>
            <a:pPr>
              <a:defRPr/>
            </a:pPr>
            <a:r>
              <a:rPr/>
              <a:t>• The "?" arrow is the bridge — the gap between computation and intuition</a:t>
            </a:r>
            <a:endParaRPr/>
          </a:p>
          <a:p>
            <a:pPr>
              <a:defRPr/>
            </a:pPr>
            <a:r>
              <a:rPr/>
              <a:t>• Scaling point: 10 qubits = 1,024 amplitudes, 20 qubits = over a million — human inspection impossible</a:t>
            </a:r>
            <a:endParaRPr/>
          </a:p>
          <a:p>
            <a:pPr>
              <a:defRPr/>
            </a:pPr>
            <a:r>
              <a:rPr/>
              <a:t>• Bridge to next slide: "that's where the AI module comes in"</a:t>
            </a:r>
            <a:endParaRPr/>
          </a:p>
        </p:txBody>
      </p:sp>
      <p:sp>
        <p:nvSpPr>
          <p:cNvPr id="93586921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57914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7281686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Key principle: we don't train, we download and run</a:t>
            </a:r>
            <a:endParaRPr/>
          </a:p>
          <a:p>
            <a:pPr>
              <a:defRPr/>
            </a:pPr>
            <a:r>
              <a:rPr/>
              <a:t>• Analogy: Ollama is the music player, GGUF is the MP3, llama.cpp is the engine</a:t>
            </a:r>
            <a:endParaRPr/>
          </a:p>
          <a:p>
            <a:pPr>
              <a:defRPr/>
            </a:pPr>
            <a:r>
              <a:rPr/>
              <a:t>• Quantization shrinks a 15 GB model to 4.7 GB with minimal quality loss — MP3-style</a:t>
            </a:r>
            <a:endParaRPr/>
          </a:p>
          <a:p>
            <a:pPr>
              <a:defRPr/>
            </a:pPr>
            <a:r>
              <a:rPr/>
              <a:t>• Hardware decision table: 3B is default (100% GPU, ~40 tok/s), 7B for quality checks, 14B parked on Colab</a:t>
            </a:r>
            <a:endParaRPr/>
          </a:p>
          <a:p>
            <a:pPr>
              <a:defRPr/>
            </a:pPr>
            <a:r>
              <a:rPr/>
              <a:t>• The 3B row is highlighted blue because it's the chosen default</a:t>
            </a:r>
            <a:endParaRPr/>
          </a:p>
          <a:p>
            <a:pPr>
              <a:defRPr/>
            </a:pPr>
            <a:r>
              <a:rPr/>
              <a:t>• Bottom chips: remind the audience of the hardware constraint and that the choice was measured, not guessed</a:t>
            </a:r>
            <a:endParaRPr/>
          </a:p>
        </p:txBody>
      </p:sp>
      <p:sp>
        <p:nvSpPr>
          <p:cNvPr id="187212941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13311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0974291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Four-step pipeline: core computes → core briefs AI → AI narrates → grounded output</a:t>
            </a:r>
            <a:endParaRPr/>
          </a:p>
          <a:p>
            <a:pPr>
              <a:defRPr/>
            </a:pPr>
            <a:r>
              <a:rPr/>
              <a:t>• Key insight: the simulator already computes exact amplitudes — it's a ground-truth oracle</a:t>
            </a:r>
            <a:endParaRPr/>
          </a:p>
          <a:p>
            <a:pPr>
              <a:defRPr/>
            </a:pPr>
            <a:r>
              <a:rPr/>
              <a:t>• The AI gets small summaries (probabilities + entanglement flags), never raw million-amplitude dumps</a:t>
            </a:r>
            <a:endParaRPr/>
          </a:p>
          <a:p>
            <a:pPr>
              <a:defRPr/>
            </a:pPr>
            <a:r>
              <a:rPr/>
              <a:t>• Why this prevents hallucination: the AI can only describe what was actually computed</a:t>
            </a:r>
            <a:endParaRPr/>
          </a:p>
          <a:p>
            <a:pPr>
              <a:defRPr/>
            </a:pPr>
            <a:r>
              <a:rPr/>
              <a:t>• Roadmap: feed circuit data → eval harness → fine-tune on simulator-generated data via LoRA on Colab</a:t>
            </a:r>
            <a:endParaRPr/>
          </a:p>
          <a:p>
            <a:pPr>
              <a:defRPr/>
            </a:pPr>
            <a:r>
              <a:rPr/>
              <a:t>• Closing line: "the simulator computes, the AI explains — neither does the other's job"</a:t>
            </a:r>
            <a:endParaRPr/>
          </a:p>
        </p:txBody>
      </p:sp>
      <p:sp>
        <p:nvSpPr>
          <p:cNvPr id="84316158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95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643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056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A2491B-558C-1558-EA33-8A875D6C7D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3742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1440473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908475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17347316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1877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9710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64066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18692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19205079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62479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18596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560047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992605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15258692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53770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137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755671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489753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270900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6296583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77950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9977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545456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902317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6496964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580480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434585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93608770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28554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766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6828919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3815761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00851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21763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92824346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463508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1199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629436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4859415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448887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21157082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73609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84082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6033143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288243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00109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16096940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06644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901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6163500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890617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8819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1925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27364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9337437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205238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17773157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69982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03764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728043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154388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10/4/2026</a:t>
            </a:fld>
            <a:endParaRPr lang="en-US"/>
          </a:p>
        </p:txBody>
      </p:sp>
      <p:sp>
        <p:nvSpPr>
          <p:cNvPr id="95123947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193396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351009" name="Oval 1"/>
          <p:cNvSpPr/>
          <p:nvPr/>
        </p:nvSpPr>
        <p:spPr bwMode="auto">
          <a:xfrm>
            <a:off x="8778240" y="-1737360"/>
            <a:ext cx="5120640" cy="5120640"/>
          </a:xfrm>
          <a:prstGeom prst="ellipse">
            <a:avLst/>
          </a:prstGeom>
          <a:solidFill>
            <a:srgbClr val="ED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3411141" name="Oval 2"/>
          <p:cNvSpPr/>
          <p:nvPr/>
        </p:nvSpPr>
        <p:spPr bwMode="auto">
          <a:xfrm>
            <a:off x="-1554480" y="4480560"/>
            <a:ext cx="4023360" cy="4023360"/>
          </a:xfrm>
          <a:prstGeom prst="ellipse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6123525" name="Oval 3"/>
          <p:cNvSpPr/>
          <p:nvPr/>
        </p:nvSpPr>
        <p:spPr bwMode="auto">
          <a:xfrm>
            <a:off x="1737360" y="-1188720"/>
            <a:ext cx="2377440" cy="2377440"/>
          </a:xfrm>
          <a:prstGeom prst="ellipse">
            <a:avLst/>
          </a:prstGeom>
          <a:solidFill>
            <a:srgbClr val="F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0185898" name="Rounded Rectangle 4"/>
          <p:cNvSpPr/>
          <p:nvPr/>
        </p:nvSpPr>
        <p:spPr bwMode="auto">
          <a:xfrm>
            <a:off x="5259872" y="4369905"/>
            <a:ext cx="1669207" cy="32385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defRPr/>
            </a:pPr>
            <a:r>
              <a:rPr sz="900">
                <a:solidFill>
                  <a:srgbClr val="2563EB"/>
                </a:solidFill>
                <a:latin typeface="Calibri"/>
              </a:rPr>
              <a:t> </a:t>
            </a:r>
            <a:r>
              <a:rPr sz="1200">
                <a:solidFill>
                  <a:srgbClr val="6B7A93"/>
                </a:solidFill>
                <a:latin typeface="Calibri"/>
              </a:rPr>
              <a:t>CSE299.3   Group #1</a:t>
            </a:r>
            <a:endParaRPr sz="2200"/>
          </a:p>
        </p:txBody>
      </p:sp>
      <p:sp>
        <p:nvSpPr>
          <p:cNvPr id="1837170077" name="Rounded Rectangle 6"/>
          <p:cNvSpPr/>
          <p:nvPr/>
        </p:nvSpPr>
        <p:spPr bwMode="auto">
          <a:xfrm>
            <a:off x="5662713" y="964003"/>
            <a:ext cx="867481" cy="31665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1400">
                <a:solidFill>
                  <a:srgbClr val="6B7A93"/>
                </a:solidFill>
                <a:latin typeface="Calibri"/>
              </a:rPr>
              <a:t>Update 1</a:t>
            </a:r>
            <a:endParaRPr sz="2400"/>
          </a:p>
        </p:txBody>
      </p:sp>
      <p:sp>
        <p:nvSpPr>
          <p:cNvPr id="1907059129" name="TextBox 7"/>
          <p:cNvSpPr txBox="1"/>
          <p:nvPr/>
        </p:nvSpPr>
        <p:spPr bwMode="auto">
          <a:xfrm>
            <a:off x="548640" y="2026247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5800" b="1" i="0">
                <a:solidFill>
                  <a:srgbClr val="0F182B"/>
                </a:solidFill>
                <a:latin typeface="Calibri"/>
              </a:rPr>
              <a:t>Sim</a:t>
            </a:r>
            <a:r>
              <a:rPr sz="5800" b="1" i="0">
                <a:solidFill>
                  <a:srgbClr val="2563EB"/>
                </a:solidFill>
                <a:latin typeface="Calibri"/>
              </a:rPr>
              <a:t>QC</a:t>
            </a:r>
            <a:endParaRPr/>
          </a:p>
        </p:txBody>
      </p:sp>
      <p:sp>
        <p:nvSpPr>
          <p:cNvPr id="1634163168" name="TextBox 8"/>
          <p:cNvSpPr txBox="1"/>
          <p:nvPr/>
        </p:nvSpPr>
        <p:spPr bwMode="auto">
          <a:xfrm>
            <a:off x="1097280" y="337430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650" b="0" i="0">
                <a:solidFill>
                  <a:srgbClr val="475569"/>
                </a:solidFill>
                <a:latin typeface="Calibri"/>
              </a:rPr>
              <a:t>A browser-based quantum circuit simulator with </a:t>
            </a:r>
            <a:r>
              <a:rPr sz="1650" b="1" i="0">
                <a:solidFill>
                  <a:srgbClr val="0F182B"/>
                </a:solidFill>
                <a:latin typeface="Calibri"/>
              </a:rPr>
              <a:t>stepwise inspection</a:t>
            </a:r>
            <a:r>
              <a:rPr sz="1650" b="0" i="0">
                <a:solidFill>
                  <a:srgbClr val="475569"/>
                </a:solidFill>
                <a:latin typeface="Calibri"/>
              </a:rPr>
              <a:t> and </a:t>
            </a:r>
            <a:r>
              <a:rPr sz="1650" b="1" i="0">
                <a:solidFill>
                  <a:srgbClr val="0F182B"/>
                </a:solidFill>
                <a:latin typeface="Calibri"/>
              </a:rPr>
              <a:t>AI-assisted explanation</a:t>
            </a:r>
            <a:endParaRPr/>
          </a:p>
        </p:txBody>
      </p:sp>
      <p:sp>
        <p:nvSpPr>
          <p:cNvPr id="1260792241" name="Rounded Rectangle 9"/>
          <p:cNvSpPr/>
          <p:nvPr/>
        </p:nvSpPr>
        <p:spPr bwMode="auto">
          <a:xfrm>
            <a:off x="2614856" y="4968837"/>
            <a:ext cx="16480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2563EB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Aoutul Nabi Purna</a:t>
            </a:r>
            <a:endParaRPr/>
          </a:p>
        </p:txBody>
      </p:sp>
      <p:sp>
        <p:nvSpPr>
          <p:cNvPr id="1314791589" name="Rounded Rectangle 10"/>
          <p:cNvSpPr/>
          <p:nvPr/>
        </p:nvSpPr>
        <p:spPr bwMode="auto">
          <a:xfrm>
            <a:off x="4409170" y="4968837"/>
            <a:ext cx="130315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7C3AED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Shishir Dhar</a:t>
            </a:r>
            <a:endParaRPr/>
          </a:p>
        </p:txBody>
      </p:sp>
      <p:sp>
        <p:nvSpPr>
          <p:cNvPr id="934351197" name="Rounded Rectangle 11"/>
          <p:cNvSpPr/>
          <p:nvPr/>
        </p:nvSpPr>
        <p:spPr bwMode="auto">
          <a:xfrm>
            <a:off x="5858625" y="4968837"/>
            <a:ext cx="137212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DB2777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Shihab Sharar</a:t>
            </a:r>
            <a:endParaRPr/>
          </a:p>
        </p:txBody>
      </p:sp>
      <p:sp>
        <p:nvSpPr>
          <p:cNvPr id="1973520422" name="Rounded Rectangle 12"/>
          <p:cNvSpPr/>
          <p:nvPr/>
        </p:nvSpPr>
        <p:spPr bwMode="auto">
          <a:xfrm>
            <a:off x="7377051" y="4968837"/>
            <a:ext cx="219978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159E4A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Md. Iftikhar Alam Hrithik</a:t>
            </a:r>
            <a:endParaRPr/>
          </a:p>
        </p:txBody>
      </p:sp>
      <p:sp>
        <p:nvSpPr>
          <p:cNvPr id="880654712" name="TextBox 13"/>
          <p:cNvSpPr txBox="1"/>
          <p:nvPr/>
        </p:nvSpPr>
        <p:spPr bwMode="auto">
          <a:xfrm>
            <a:off x="731520" y="5563197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6B7A93"/>
                </a:solidFill>
                <a:latin typeface="Consolas"/>
              </a:rPr>
              <a:t>Department of Electrical and Computer Engineering · North South University, Dhaka</a:t>
            </a:r>
            <a:endParaRPr/>
          </a:p>
        </p:txBody>
      </p:sp>
      <p:sp>
        <p:nvSpPr>
          <p:cNvPr id="53399549" name="Rectangle 14"/>
          <p:cNvSpPr/>
          <p:nvPr/>
        </p:nvSpPr>
        <p:spPr bwMode="auto"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0989105" name="TextBox 15"/>
          <p:cNvSpPr txBox="1"/>
          <p:nvPr/>
        </p:nvSpPr>
        <p:spPr bwMode="auto">
          <a:xfrm>
            <a:off x="502920" y="6563669"/>
            <a:ext cx="9706319" cy="1451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CSE299.3:  Aoutul Nabi Purna · Shishir Dhar · Shihab Sharar · Md. Iftikhar Alam Hrithik</a:t>
            </a:r>
            <a:endParaRPr/>
          </a:p>
        </p:txBody>
      </p:sp>
      <p:sp>
        <p:nvSpPr>
          <p:cNvPr id="1520002906" name="TextBox 16"/>
          <p:cNvSpPr txBox="1"/>
          <p:nvPr/>
        </p:nvSpPr>
        <p:spPr bwMode="auto">
          <a:xfrm>
            <a:off x="10378440" y="6557549"/>
            <a:ext cx="1309031" cy="1451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6B7A93"/>
                </a:solidFill>
                <a:latin typeface="Consolas"/>
              </a:rPr>
              <a:t>01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459415" name="Rectangle 1"/>
          <p:cNvSpPr/>
          <p:nvPr/>
        </p:nvSpPr>
        <p:spPr bwMode="auto"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5931401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Team Introduction</a:t>
            </a:r>
            <a:endParaRPr/>
          </a:p>
        </p:txBody>
      </p:sp>
      <p:sp>
        <p:nvSpPr>
          <p:cNvPr id="423731079" name="TextBox 3"/>
          <p:cNvSpPr txBox="1"/>
          <p:nvPr/>
        </p:nvSpPr>
        <p:spPr bwMode="auto">
          <a:xfrm>
            <a:off x="502920" y="566928"/>
            <a:ext cx="11161799" cy="396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2600" b="1" i="0">
                <a:solidFill>
                  <a:srgbClr val="0F182B"/>
                </a:solidFill>
                <a:latin typeface="Calibri"/>
              </a:rPr>
              <a:t>Group 1 Members</a:t>
            </a:r>
            <a:endParaRPr/>
          </a:p>
        </p:txBody>
      </p:sp>
      <p:sp>
        <p:nvSpPr>
          <p:cNvPr id="2093976215" name="Rounded Rectangle 5"/>
          <p:cNvSpPr/>
          <p:nvPr/>
        </p:nvSpPr>
        <p:spPr bwMode="auto">
          <a:xfrm>
            <a:off x="502920" y="1693582"/>
            <a:ext cx="55138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4265358" name="Oval 6"/>
          <p:cNvSpPr/>
          <p:nvPr/>
        </p:nvSpPr>
        <p:spPr bwMode="auto">
          <a:xfrm>
            <a:off x="731520" y="2036482"/>
            <a:ext cx="685800" cy="685800"/>
          </a:xfrm>
          <a:prstGeom prst="ellipse">
            <a:avLst/>
          </a:prstGeom>
          <a:solidFill>
            <a:srgbClr val="D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700" b="1">
                <a:solidFill>
                  <a:srgbClr val="2563EB"/>
                </a:solidFill>
                <a:latin typeface="Calibri"/>
              </a:rPr>
              <a:t>AP</a:t>
            </a:r>
            <a:endParaRPr/>
          </a:p>
        </p:txBody>
      </p:sp>
      <p:sp>
        <p:nvSpPr>
          <p:cNvPr id="145170197" name="TextBox 7"/>
          <p:cNvSpPr txBox="1"/>
          <p:nvPr/>
        </p:nvSpPr>
        <p:spPr bwMode="auto">
          <a:xfrm>
            <a:off x="1645920" y="1977046"/>
            <a:ext cx="4142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550" b="1" i="0">
                <a:solidFill>
                  <a:srgbClr val="0F182B"/>
                </a:solidFill>
                <a:latin typeface="Calibri"/>
              </a:rPr>
              <a:t>Aoutul Nabi Purna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000" b="0" i="0">
                <a:solidFill>
                  <a:srgbClr val="6B7A93"/>
                </a:solidFill>
                <a:latin typeface="Consolas"/>
              </a:rPr>
              <a:t>aoutul.purna.241@northsouth.edu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6B7A93"/>
                </a:solidFill>
                <a:latin typeface="Calibri"/>
              </a:rPr>
              <a:t>Dept. of ECE · North South University</a:t>
            </a:r>
            <a:endParaRPr/>
          </a:p>
        </p:txBody>
      </p:sp>
      <p:sp>
        <p:nvSpPr>
          <p:cNvPr id="488986292" name="Rounded Rectangle 8"/>
          <p:cNvSpPr/>
          <p:nvPr/>
        </p:nvSpPr>
        <p:spPr bwMode="auto">
          <a:xfrm>
            <a:off x="6172200" y="1693582"/>
            <a:ext cx="55138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080258" name="Oval 9"/>
          <p:cNvSpPr/>
          <p:nvPr/>
        </p:nvSpPr>
        <p:spPr bwMode="auto">
          <a:xfrm>
            <a:off x="6400800" y="2036482"/>
            <a:ext cx="685800" cy="685800"/>
          </a:xfrm>
          <a:prstGeom prst="ellipse">
            <a:avLst/>
          </a:prstGeom>
          <a:solidFill>
            <a:srgbClr val="EAD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700" b="1">
                <a:solidFill>
                  <a:srgbClr val="7C3AED"/>
                </a:solidFill>
                <a:latin typeface="Calibri"/>
              </a:rPr>
              <a:t>SD</a:t>
            </a:r>
            <a:endParaRPr/>
          </a:p>
        </p:txBody>
      </p:sp>
      <p:sp>
        <p:nvSpPr>
          <p:cNvPr id="1636235503" name="TextBox 10"/>
          <p:cNvSpPr txBox="1"/>
          <p:nvPr/>
        </p:nvSpPr>
        <p:spPr bwMode="auto">
          <a:xfrm>
            <a:off x="7315200" y="1977046"/>
            <a:ext cx="4142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550" b="1" i="0">
                <a:solidFill>
                  <a:srgbClr val="0F182B"/>
                </a:solidFill>
                <a:latin typeface="Calibri"/>
              </a:rPr>
              <a:t>Shishir Dhar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000" b="0" i="0">
                <a:solidFill>
                  <a:srgbClr val="6B7A93"/>
                </a:solidFill>
                <a:latin typeface="Consolas"/>
              </a:rPr>
              <a:t>shishir.dhar.241@northsouth.edu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6B7A93"/>
                </a:solidFill>
                <a:latin typeface="Calibri"/>
              </a:rPr>
              <a:t>Dept. of ECE · North South University</a:t>
            </a:r>
            <a:endParaRPr/>
          </a:p>
        </p:txBody>
      </p:sp>
      <p:sp>
        <p:nvSpPr>
          <p:cNvPr id="1363739340" name="Rounded Rectangle 11"/>
          <p:cNvSpPr/>
          <p:nvPr/>
        </p:nvSpPr>
        <p:spPr bwMode="auto">
          <a:xfrm>
            <a:off x="502920" y="3808356"/>
            <a:ext cx="55138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7934310" name="Oval 12"/>
          <p:cNvSpPr/>
          <p:nvPr/>
        </p:nvSpPr>
        <p:spPr bwMode="auto">
          <a:xfrm>
            <a:off x="731520" y="4151256"/>
            <a:ext cx="685800" cy="685800"/>
          </a:xfrm>
          <a:prstGeom prst="ellipse">
            <a:avLst/>
          </a:prstGeom>
          <a:solidFill>
            <a:srgbClr val="F9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700" b="1">
                <a:solidFill>
                  <a:srgbClr val="DB2777"/>
                </a:solidFill>
                <a:latin typeface="Calibri"/>
              </a:rPr>
              <a:t>SS</a:t>
            </a:r>
            <a:endParaRPr/>
          </a:p>
        </p:txBody>
      </p:sp>
      <p:sp>
        <p:nvSpPr>
          <p:cNvPr id="1230053961" name="TextBox 13"/>
          <p:cNvSpPr txBox="1"/>
          <p:nvPr/>
        </p:nvSpPr>
        <p:spPr bwMode="auto">
          <a:xfrm>
            <a:off x="1645920" y="4091820"/>
            <a:ext cx="4142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550" b="1" i="0">
                <a:solidFill>
                  <a:srgbClr val="0F182B"/>
                </a:solidFill>
                <a:latin typeface="Calibri"/>
              </a:rPr>
              <a:t>Shihab Sharar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000" b="0" i="0">
                <a:solidFill>
                  <a:srgbClr val="6B7A93"/>
                </a:solidFill>
                <a:latin typeface="Consolas"/>
              </a:rPr>
              <a:t>shihab.sharar.241@northsouth.edu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6B7A93"/>
                </a:solidFill>
                <a:latin typeface="Calibri"/>
              </a:rPr>
              <a:t>Dept. of ECE · North South University</a:t>
            </a:r>
            <a:endParaRPr/>
          </a:p>
        </p:txBody>
      </p:sp>
      <p:sp>
        <p:nvSpPr>
          <p:cNvPr id="149473043" name="Rounded Rectangle 14"/>
          <p:cNvSpPr/>
          <p:nvPr/>
        </p:nvSpPr>
        <p:spPr bwMode="auto">
          <a:xfrm>
            <a:off x="6172200" y="3808356"/>
            <a:ext cx="55138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4378734" name="Oval 15"/>
          <p:cNvSpPr/>
          <p:nvPr/>
        </p:nvSpPr>
        <p:spPr bwMode="auto">
          <a:xfrm>
            <a:off x="6400800" y="4151256"/>
            <a:ext cx="685800" cy="685800"/>
          </a:xfrm>
          <a:prstGeom prst="ellipse">
            <a:avLst/>
          </a:prstGeom>
          <a:solidFill>
            <a:srgbClr val="D9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700" b="1">
                <a:solidFill>
                  <a:srgbClr val="159E4A"/>
                </a:solidFill>
                <a:latin typeface="Calibri"/>
              </a:rPr>
              <a:t>MH</a:t>
            </a:r>
            <a:endParaRPr/>
          </a:p>
        </p:txBody>
      </p:sp>
      <p:sp>
        <p:nvSpPr>
          <p:cNvPr id="1709909938" name="TextBox 16"/>
          <p:cNvSpPr txBox="1"/>
          <p:nvPr/>
        </p:nvSpPr>
        <p:spPr bwMode="auto">
          <a:xfrm>
            <a:off x="7315200" y="4091820"/>
            <a:ext cx="4142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550" b="1" i="0">
                <a:solidFill>
                  <a:srgbClr val="0F182B"/>
                </a:solidFill>
                <a:latin typeface="Calibri"/>
              </a:rPr>
              <a:t>Md. Iftikhar Alam Hrithik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000" b="0" i="0">
                <a:solidFill>
                  <a:srgbClr val="6B7A93"/>
                </a:solidFill>
                <a:latin typeface="Consolas"/>
              </a:rPr>
              <a:t>iftikhar.hrithik.241@northsouth.edu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6B7A93"/>
                </a:solidFill>
                <a:latin typeface="Calibri"/>
              </a:rPr>
              <a:t>Dept. of ECE · North South University</a:t>
            </a:r>
            <a:endParaRPr/>
          </a:p>
        </p:txBody>
      </p:sp>
      <p:sp>
        <p:nvSpPr>
          <p:cNvPr id="79386261" name="Rectangle 18"/>
          <p:cNvSpPr/>
          <p:nvPr/>
        </p:nvSpPr>
        <p:spPr bwMode="auto"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1441680" name="TextBox 19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2118116105" name="TextBox 20"/>
          <p:cNvSpPr txBox="1"/>
          <p:nvPr/>
        </p:nvSpPr>
        <p:spPr bwMode="auto">
          <a:xfrm>
            <a:off x="10378440" y="6557549"/>
            <a:ext cx="1309031" cy="1451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6B7A93"/>
                </a:solidFill>
                <a:latin typeface="Consolas"/>
              </a:rPr>
              <a:t>02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210168" name="Oval 1"/>
          <p:cNvSpPr/>
          <p:nvPr/>
        </p:nvSpPr>
        <p:spPr bwMode="auto">
          <a:xfrm>
            <a:off x="9052560" y="-1554480"/>
            <a:ext cx="4754880" cy="4754880"/>
          </a:xfrm>
          <a:prstGeom prst="ellipse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2133166" name="Oval 2"/>
          <p:cNvSpPr/>
          <p:nvPr/>
        </p:nvSpPr>
        <p:spPr bwMode="auto">
          <a:xfrm>
            <a:off x="-1463040" y="4572000"/>
            <a:ext cx="3840480" cy="3840480"/>
          </a:xfrm>
          <a:prstGeom prst="ellipse">
            <a:avLst/>
          </a:prstGeom>
          <a:solidFill>
            <a:srgbClr val="ED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2324407" name="TextBox 1771618134"/>
          <p:cNvSpPr txBox="1"/>
          <p:nvPr/>
        </p:nvSpPr>
        <p:spPr bwMode="auto">
          <a:xfrm>
            <a:off x="548640" y="2651760"/>
            <a:ext cx="11091672" cy="1280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/>
            </a:pPr>
            <a:r>
              <a:rPr sz="5200" b="1">
                <a:solidFill>
                  <a:srgbClr val="0F182B"/>
                </a:solidFill>
                <a:latin typeface="Calibri"/>
              </a:rPr>
              <a:t>Intro to Qubits</a:t>
            </a:r>
            <a:endParaRPr/>
          </a:p>
        </p:txBody>
      </p:sp>
      <p:sp>
        <p:nvSpPr>
          <p:cNvPr id="426533794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0642458" name="TextBox 1771618135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1504225670" name="TextBox 1771618136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03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359675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3454749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>
                <a:solidFill>
                  <a:srgbClr val="2563EB"/>
                </a:solidFill>
                <a:latin typeface="Consolas"/>
              </a:rPr>
              <a:t>MATH 01 · STATE VECTORS</a:t>
            </a:r>
            <a:endParaRPr/>
          </a:p>
        </p:txBody>
      </p:sp>
      <p:sp>
        <p:nvSpPr>
          <p:cNvPr id="1986094064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0F182B"/>
                </a:solidFill>
                <a:latin typeface="Calibri"/>
              </a:rPr>
              <a:t>From one qubit to many: the state vector</a:t>
            </a:r>
            <a:endParaRPr/>
          </a:p>
        </p:txBody>
      </p:sp>
      <p:sp>
        <p:nvSpPr>
          <p:cNvPr id="2116990194" name="Rounded Rectangle 17"/>
          <p:cNvSpPr/>
          <p:nvPr/>
        </p:nvSpPr>
        <p:spPr bwMode="auto">
          <a:xfrm>
            <a:off x="502920" y="1371600"/>
            <a:ext cx="5504687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9353262" name="Rectangle 18"/>
          <p:cNvSpPr/>
          <p:nvPr/>
        </p:nvSpPr>
        <p:spPr bwMode="auto">
          <a:xfrm>
            <a:off x="704088" y="156362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8527311" name="TextBox 19"/>
          <p:cNvSpPr txBox="1"/>
          <p:nvPr/>
        </p:nvSpPr>
        <p:spPr bwMode="auto">
          <a:xfrm>
            <a:off x="914400" y="1508759"/>
            <a:ext cx="48646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2563EB"/>
                </a:solidFill>
                <a:latin typeface="Consolas"/>
              </a:rPr>
              <a:t>THE 2-QUBIT STATE</a:t>
            </a:r>
            <a:endParaRPr/>
          </a:p>
        </p:txBody>
      </p:sp>
      <p:sp>
        <p:nvSpPr>
          <p:cNvPr id="593071687" name="TextBox 20"/>
          <p:cNvSpPr txBox="1"/>
          <p:nvPr/>
        </p:nvSpPr>
        <p:spPr bwMode="auto">
          <a:xfrm>
            <a:off x="685800" y="1847088"/>
            <a:ext cx="51389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400" b="1">
                <a:solidFill>
                  <a:srgbClr val="0F182B"/>
                </a:solidFill>
                <a:latin typeface="Cambria Math"/>
              </a:rPr>
              <a:t>|ψ&gt; = α|00&gt; + β|01&gt; + γ|10&gt; + δ|11&gt;</a:t>
            </a:r>
            <a:endParaRPr/>
          </a:p>
        </p:txBody>
      </p:sp>
      <p:sp>
        <p:nvSpPr>
          <p:cNvPr id="70985989" name="TextBox 21"/>
          <p:cNvSpPr txBox="1"/>
          <p:nvPr/>
        </p:nvSpPr>
        <p:spPr bwMode="auto">
          <a:xfrm>
            <a:off x="685800" y="2304288"/>
            <a:ext cx="5138928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400" b="1">
                <a:solidFill>
                  <a:srgbClr val="0F182B"/>
                </a:solidFill>
                <a:latin typeface="Cambria Math"/>
              </a:rPr>
              <a:t>( α   β   γ   δ )</a:t>
            </a:r>
            <a:endParaRPr/>
          </a:p>
        </p:txBody>
      </p:sp>
      <p:sp>
        <p:nvSpPr>
          <p:cNvPr id="2108562360" name="TextBox 22"/>
          <p:cNvSpPr txBox="1"/>
          <p:nvPr/>
        </p:nvSpPr>
        <p:spPr bwMode="auto">
          <a:xfrm>
            <a:off x="685800" y="2724911"/>
            <a:ext cx="513892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900" b="0">
                <a:solidFill>
                  <a:srgbClr val="6B7A93"/>
                </a:solidFill>
                <a:latin typeface="Consolas"/>
              </a:rPr>
              <a:t>4 complex values</a:t>
            </a:r>
            <a:endParaRPr/>
          </a:p>
        </p:txBody>
      </p:sp>
      <p:sp>
        <p:nvSpPr>
          <p:cNvPr id="784269185" name="Rounded Rectangle 17"/>
          <p:cNvSpPr/>
          <p:nvPr/>
        </p:nvSpPr>
        <p:spPr bwMode="auto">
          <a:xfrm>
            <a:off x="6172200" y="1371600"/>
            <a:ext cx="55138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3724844" name="Rectangle 18"/>
          <p:cNvSpPr/>
          <p:nvPr/>
        </p:nvSpPr>
        <p:spPr bwMode="auto">
          <a:xfrm>
            <a:off x="6373368" y="156362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9811711" name="TextBox 23"/>
          <p:cNvSpPr txBox="1"/>
          <p:nvPr/>
        </p:nvSpPr>
        <p:spPr bwMode="auto">
          <a:xfrm>
            <a:off x="6583680" y="1508759"/>
            <a:ext cx="48737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7C3AED"/>
                </a:solidFill>
                <a:latin typeface="Consolas"/>
              </a:rPr>
              <a:t>THE 3-QUBIT STATE</a:t>
            </a:r>
            <a:endParaRPr/>
          </a:p>
        </p:txBody>
      </p:sp>
      <p:sp>
        <p:nvSpPr>
          <p:cNvPr id="1749948947" name="TextBox 24"/>
          <p:cNvSpPr txBox="1"/>
          <p:nvPr/>
        </p:nvSpPr>
        <p:spPr bwMode="auto">
          <a:xfrm>
            <a:off x="6355080" y="1847088"/>
            <a:ext cx="5148072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400" b="1">
                <a:solidFill>
                  <a:srgbClr val="0F182B"/>
                </a:solidFill>
                <a:latin typeface="Cambria Math"/>
              </a:rPr>
              <a:t>|ψ&gt; = a₀|000&gt; + a₁|001&gt; + … + a₇|111&gt;</a:t>
            </a:r>
            <a:endParaRPr/>
          </a:p>
        </p:txBody>
      </p:sp>
      <p:sp>
        <p:nvSpPr>
          <p:cNvPr id="1872601132" name="TextBox 25"/>
          <p:cNvSpPr txBox="1"/>
          <p:nvPr/>
        </p:nvSpPr>
        <p:spPr bwMode="auto">
          <a:xfrm>
            <a:off x="6355080" y="2304288"/>
            <a:ext cx="5148072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400" b="1">
                <a:solidFill>
                  <a:srgbClr val="0F182B"/>
                </a:solidFill>
                <a:latin typeface="Cambria Math"/>
              </a:rPr>
              <a:t>( a₀  a₁  a₂  …  a₇ )</a:t>
            </a:r>
            <a:endParaRPr/>
          </a:p>
        </p:txBody>
      </p:sp>
      <p:sp>
        <p:nvSpPr>
          <p:cNvPr id="1971408313" name="TextBox 26"/>
          <p:cNvSpPr txBox="1"/>
          <p:nvPr/>
        </p:nvSpPr>
        <p:spPr bwMode="auto">
          <a:xfrm>
            <a:off x="6355080" y="2724911"/>
            <a:ext cx="51480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900" b="0">
                <a:solidFill>
                  <a:srgbClr val="6B7A93"/>
                </a:solidFill>
                <a:latin typeface="Consolas"/>
              </a:rPr>
              <a:t>8 complex values</a:t>
            </a:r>
            <a:endParaRPr/>
          </a:p>
        </p:txBody>
      </p:sp>
      <p:sp>
        <p:nvSpPr>
          <p:cNvPr id="765590296" name="Rounded Rectangle 17"/>
          <p:cNvSpPr/>
          <p:nvPr/>
        </p:nvSpPr>
        <p:spPr bwMode="auto">
          <a:xfrm>
            <a:off x="502920" y="3474720"/>
            <a:ext cx="1118311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1318660" name="Rectangle 18"/>
          <p:cNvSpPr/>
          <p:nvPr/>
        </p:nvSpPr>
        <p:spPr bwMode="auto">
          <a:xfrm>
            <a:off x="704088" y="3666744"/>
            <a:ext cx="13716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8709918" name="TextBox 27"/>
          <p:cNvSpPr txBox="1"/>
          <p:nvPr/>
        </p:nvSpPr>
        <p:spPr bwMode="auto">
          <a:xfrm>
            <a:off x="914400" y="3611879"/>
            <a:ext cx="10543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DB2777"/>
                </a:solidFill>
                <a:latin typeface="Consolas"/>
              </a:rPr>
              <a:t>KRONECKER (TENSOR) PRODUCT — BUILDING THE FULL VECTOR</a:t>
            </a:r>
            <a:endParaRPr/>
          </a:p>
        </p:txBody>
      </p:sp>
      <p:sp>
        <p:nvSpPr>
          <p:cNvPr id="1694319862" name="TextBox 28"/>
          <p:cNvSpPr txBox="1"/>
          <p:nvPr/>
        </p:nvSpPr>
        <p:spPr bwMode="auto">
          <a:xfrm>
            <a:off x="731520" y="395020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The full state vector is constructed from the single-qubit vectors:</a:t>
            </a:r>
            <a:endParaRPr/>
          </a:p>
        </p:txBody>
      </p:sp>
      <p:sp>
        <p:nvSpPr>
          <p:cNvPr id="2145203658" name="TextBox 29"/>
          <p:cNvSpPr txBox="1"/>
          <p:nvPr/>
        </p:nvSpPr>
        <p:spPr bwMode="auto"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0F182B"/>
                </a:solidFill>
                <a:latin typeface="Cambria Math"/>
              </a:rPr>
              <a:t>|0&gt; ⊗ |0&gt;   =   ( 1  0 ) ⊗ ( 1  0 )   =   ( 1  0  0  0 )</a:t>
            </a:r>
            <a:endParaRPr/>
          </a:p>
        </p:txBody>
      </p:sp>
      <p:sp>
        <p:nvSpPr>
          <p:cNvPr id="1336656933" name="TextBox 30"/>
          <p:cNvSpPr txBox="1"/>
          <p:nvPr/>
        </p:nvSpPr>
        <p:spPr bwMode="auto">
          <a:xfrm>
            <a:off x="731520" y="4892039"/>
            <a:ext cx="1072591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000" b="0">
                <a:solidFill>
                  <a:srgbClr val="6B7A93"/>
                </a:solidFill>
                <a:latin typeface="Consolas"/>
              </a:rPr>
              <a:t>m entries  ⊗  n entries   →   m · n entries</a:t>
            </a:r>
            <a:endParaRPr/>
          </a:p>
        </p:txBody>
      </p:sp>
      <p:sp>
        <p:nvSpPr>
          <p:cNvPr id="869249023" name="Rounded Rectangle 31"/>
          <p:cNvSpPr/>
          <p:nvPr/>
        </p:nvSpPr>
        <p:spPr bwMode="auto">
          <a:xfrm>
            <a:off x="502920" y="562356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EFF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6198213" name="TextBox 32"/>
          <p:cNvSpPr txBox="1"/>
          <p:nvPr/>
        </p:nvSpPr>
        <p:spPr bwMode="auto">
          <a:xfrm>
            <a:off x="731520" y="56235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2563EB"/>
                </a:solidFill>
                <a:latin typeface="Calibri"/>
              </a:rPr>
              <a:t>Memory check:  </a:t>
            </a:r>
            <a:r>
              <a:rPr sz="1200" b="0">
                <a:solidFill>
                  <a:srgbClr val="475569"/>
                </a:solidFill>
                <a:latin typeface="Calibri"/>
              </a:rPr>
              <a:t>n qubits need 2ⁿ complex values — 2 · 2ⁿ numbers to store them.</a:t>
            </a:r>
            <a:endParaRPr/>
          </a:p>
        </p:txBody>
      </p:sp>
      <p:sp>
        <p:nvSpPr>
          <p:cNvPr id="456635006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4777736" name="TextBox 34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801095378" name="TextBox 35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04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869565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734882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>
                <a:solidFill>
                  <a:srgbClr val="7C3AED"/>
                </a:solidFill>
                <a:latin typeface="Consolas"/>
              </a:rPr>
              <a:t>MATH 02 · GATE MATRICES</a:t>
            </a:r>
            <a:endParaRPr/>
          </a:p>
        </p:txBody>
      </p:sp>
      <p:sp>
        <p:nvSpPr>
          <p:cNvPr id="753115518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0F182B"/>
                </a:solidFill>
                <a:latin typeface="Calibri"/>
              </a:rPr>
              <a:t>One gate on 3 qubits = an 8×8 matrix</a:t>
            </a:r>
            <a:endParaRPr/>
          </a:p>
        </p:txBody>
      </p:sp>
      <p:sp>
        <p:nvSpPr>
          <p:cNvPr id="524903638" name="Rounded Rectangle 17"/>
          <p:cNvSpPr/>
          <p:nvPr/>
        </p:nvSpPr>
        <p:spPr bwMode="auto">
          <a:xfrm>
            <a:off x="502920" y="1371600"/>
            <a:ext cx="49377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4927784" name="Rectangle 18"/>
          <p:cNvSpPr/>
          <p:nvPr/>
        </p:nvSpPr>
        <p:spPr bwMode="auto">
          <a:xfrm>
            <a:off x="704088" y="156362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801664" name="TextBox 19"/>
          <p:cNvSpPr txBox="1"/>
          <p:nvPr/>
        </p:nvSpPr>
        <p:spPr bwMode="auto">
          <a:xfrm>
            <a:off x="914400" y="1508759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2563EB"/>
                </a:solidFill>
                <a:latin typeface="Consolas"/>
              </a:rPr>
              <a:t>THE COST</a:t>
            </a:r>
            <a:endParaRPr/>
          </a:p>
        </p:txBody>
      </p:sp>
      <p:sp>
        <p:nvSpPr>
          <p:cNvPr id="2062164166" name="TextBox 20"/>
          <p:cNvSpPr txBox="1"/>
          <p:nvPr/>
        </p:nvSpPr>
        <p:spPr bwMode="auto">
          <a:xfrm>
            <a:off x="731520" y="1847088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To manipulate a 2ⁿ vector we need a 2ⁿ × 2ⁿ matrix:</a:t>
            </a:r>
            <a:endParaRPr/>
          </a:p>
        </p:txBody>
      </p:sp>
      <p:sp>
        <p:nvSpPr>
          <p:cNvPr id="201298891" name="TextBox 21"/>
          <p:cNvSpPr txBox="1"/>
          <p:nvPr/>
        </p:nvSpPr>
        <p:spPr bwMode="auto">
          <a:xfrm>
            <a:off x="731520" y="2651760"/>
            <a:ext cx="4480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475569"/>
                </a:solidFill>
                <a:latin typeface="Consolas"/>
              </a:rPr>
              <a:t>1 qubit    →   2 × 2</a:t>
            </a:r>
            <a:endParaRPr/>
          </a:p>
        </p:txBody>
      </p:sp>
      <p:sp>
        <p:nvSpPr>
          <p:cNvPr id="1257232969" name="TextBox 22"/>
          <p:cNvSpPr txBox="1"/>
          <p:nvPr/>
        </p:nvSpPr>
        <p:spPr bwMode="auto">
          <a:xfrm>
            <a:off x="731520" y="3035808"/>
            <a:ext cx="4480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475569"/>
                </a:solidFill>
                <a:latin typeface="Consolas"/>
              </a:rPr>
              <a:t>2 qubits   →   4 × 4</a:t>
            </a:r>
            <a:endParaRPr/>
          </a:p>
        </p:txBody>
      </p:sp>
      <p:sp>
        <p:nvSpPr>
          <p:cNvPr id="239587808" name="TextBox 23"/>
          <p:cNvSpPr txBox="1"/>
          <p:nvPr/>
        </p:nvSpPr>
        <p:spPr bwMode="auto">
          <a:xfrm>
            <a:off x="731520" y="3419856"/>
            <a:ext cx="4480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50" b="1">
                <a:solidFill>
                  <a:srgbClr val="159E4A"/>
                </a:solidFill>
                <a:latin typeface="Consolas"/>
              </a:rPr>
              <a:t>3 qubits   →   8 × 8</a:t>
            </a:r>
            <a:endParaRPr/>
          </a:p>
        </p:txBody>
      </p:sp>
      <p:sp>
        <p:nvSpPr>
          <p:cNvPr id="2097835282" name="TextBox 24"/>
          <p:cNvSpPr txBox="1"/>
          <p:nvPr/>
        </p:nvSpPr>
        <p:spPr bwMode="auto">
          <a:xfrm>
            <a:off x="731520" y="3803904"/>
            <a:ext cx="4480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64 entries — × 2 for imaginary part</a:t>
            </a:r>
            <a:endParaRPr/>
          </a:p>
        </p:txBody>
      </p:sp>
      <p:sp>
        <p:nvSpPr>
          <p:cNvPr id="1355966618" name="TextBox 25"/>
          <p:cNvSpPr txBox="1"/>
          <p:nvPr/>
        </p:nvSpPr>
        <p:spPr bwMode="auto">
          <a:xfrm>
            <a:off x="731520" y="443484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50" b="0">
                <a:solidFill>
                  <a:srgbClr val="6B7A93"/>
                </a:solidFill>
                <a:latin typeface="Calibri"/>
              </a:rPr>
              <a:t>…and to touch only 1 qubit, the other 2 must be left alone.</a:t>
            </a:r>
            <a:endParaRPr/>
          </a:p>
        </p:txBody>
      </p:sp>
      <p:sp>
        <p:nvSpPr>
          <p:cNvPr id="1696407528" name="Rounded Rectangle 17"/>
          <p:cNvSpPr/>
          <p:nvPr/>
        </p:nvSpPr>
        <p:spPr bwMode="auto">
          <a:xfrm>
            <a:off x="5623560" y="1371600"/>
            <a:ext cx="6062471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1114594" name="Rectangle 18"/>
          <p:cNvSpPr/>
          <p:nvPr/>
        </p:nvSpPr>
        <p:spPr bwMode="auto">
          <a:xfrm>
            <a:off x="5824728" y="156362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6612017" name="TextBox 26"/>
          <p:cNvSpPr txBox="1"/>
          <p:nvPr/>
        </p:nvSpPr>
        <p:spPr bwMode="auto">
          <a:xfrm>
            <a:off x="6035039" y="1508759"/>
            <a:ext cx="5422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7C3AED"/>
                </a:solidFill>
                <a:latin typeface="Consolas"/>
              </a:rPr>
              <a:t>WHERE THE WASTE IS</a:t>
            </a:r>
            <a:endParaRPr/>
          </a:p>
        </p:txBody>
      </p:sp>
      <p:sp>
        <p:nvSpPr>
          <p:cNvPr id="1289018166" name="TextBox 27"/>
          <p:cNvSpPr txBox="1"/>
          <p:nvPr/>
        </p:nvSpPr>
        <p:spPr bwMode="auto">
          <a:xfrm>
            <a:off x="5852160" y="1828800"/>
            <a:ext cx="5605272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500" b="1">
                <a:solidFill>
                  <a:srgbClr val="0F182B"/>
                </a:solidFill>
                <a:latin typeface="Cambria Math"/>
              </a:rPr>
              <a:t>gate on q0 only   →   H ⊗ I ⊗ I</a:t>
            </a:r>
            <a:endParaRPr/>
          </a:p>
        </p:txBody>
      </p:sp>
      <p:sp>
        <p:nvSpPr>
          <p:cNvPr id="39049888" name="Rectangle 28"/>
          <p:cNvSpPr/>
          <p:nvPr/>
        </p:nvSpPr>
        <p:spPr bwMode="auto">
          <a:xfrm>
            <a:off x="7571231" y="2331720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7806056" name="Rectangle 29"/>
          <p:cNvSpPr/>
          <p:nvPr/>
        </p:nvSpPr>
        <p:spPr bwMode="auto">
          <a:xfrm>
            <a:off x="7840979" y="2331720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4342598" name="Rectangle 30"/>
          <p:cNvSpPr/>
          <p:nvPr/>
        </p:nvSpPr>
        <p:spPr bwMode="auto">
          <a:xfrm>
            <a:off x="8110727" y="2331720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8107800" name="Rectangle 31"/>
          <p:cNvSpPr/>
          <p:nvPr/>
        </p:nvSpPr>
        <p:spPr bwMode="auto">
          <a:xfrm>
            <a:off x="8380475" y="2331720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9390869" name="Rectangle 32"/>
          <p:cNvSpPr/>
          <p:nvPr/>
        </p:nvSpPr>
        <p:spPr bwMode="auto">
          <a:xfrm>
            <a:off x="8650224" y="2331720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9876817" name="Rectangle 33"/>
          <p:cNvSpPr/>
          <p:nvPr/>
        </p:nvSpPr>
        <p:spPr bwMode="auto">
          <a:xfrm>
            <a:off x="8919972" y="2331720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1559543" name="Rectangle 34"/>
          <p:cNvSpPr/>
          <p:nvPr/>
        </p:nvSpPr>
        <p:spPr bwMode="auto">
          <a:xfrm>
            <a:off x="9189719" y="2331720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4833172" name="Rectangle 35"/>
          <p:cNvSpPr/>
          <p:nvPr/>
        </p:nvSpPr>
        <p:spPr bwMode="auto">
          <a:xfrm>
            <a:off x="9459467" y="2331720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0665138" name="Rectangle 36"/>
          <p:cNvSpPr/>
          <p:nvPr/>
        </p:nvSpPr>
        <p:spPr bwMode="auto">
          <a:xfrm>
            <a:off x="7571231" y="2601468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4914117" name="Rectangle 37"/>
          <p:cNvSpPr/>
          <p:nvPr/>
        </p:nvSpPr>
        <p:spPr bwMode="auto">
          <a:xfrm>
            <a:off x="7840979" y="2601468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0268401" name="Rectangle 38"/>
          <p:cNvSpPr/>
          <p:nvPr/>
        </p:nvSpPr>
        <p:spPr bwMode="auto">
          <a:xfrm>
            <a:off x="8110727" y="260146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6691677" name="Rectangle 39"/>
          <p:cNvSpPr/>
          <p:nvPr/>
        </p:nvSpPr>
        <p:spPr bwMode="auto">
          <a:xfrm>
            <a:off x="8380475" y="260146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9246975" name="Rectangle 40"/>
          <p:cNvSpPr/>
          <p:nvPr/>
        </p:nvSpPr>
        <p:spPr bwMode="auto">
          <a:xfrm>
            <a:off x="8650224" y="260146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4687118" name="Rectangle 41"/>
          <p:cNvSpPr/>
          <p:nvPr/>
        </p:nvSpPr>
        <p:spPr bwMode="auto">
          <a:xfrm>
            <a:off x="8919972" y="260146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7564046" name="Rectangle 42"/>
          <p:cNvSpPr/>
          <p:nvPr/>
        </p:nvSpPr>
        <p:spPr bwMode="auto">
          <a:xfrm>
            <a:off x="9189719" y="260146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9663310" name="Rectangle 43"/>
          <p:cNvSpPr/>
          <p:nvPr/>
        </p:nvSpPr>
        <p:spPr bwMode="auto">
          <a:xfrm>
            <a:off x="9459467" y="260146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0435587" name="Rectangle 44"/>
          <p:cNvSpPr/>
          <p:nvPr/>
        </p:nvSpPr>
        <p:spPr bwMode="auto">
          <a:xfrm>
            <a:off x="7571231" y="2871215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8333995" name="Rectangle 45"/>
          <p:cNvSpPr/>
          <p:nvPr/>
        </p:nvSpPr>
        <p:spPr bwMode="auto">
          <a:xfrm>
            <a:off x="7840979" y="2871215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9691961" name="Rectangle 46"/>
          <p:cNvSpPr/>
          <p:nvPr/>
        </p:nvSpPr>
        <p:spPr bwMode="auto">
          <a:xfrm>
            <a:off x="8110727" y="2871215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6267513" name="Rectangle 47"/>
          <p:cNvSpPr/>
          <p:nvPr/>
        </p:nvSpPr>
        <p:spPr bwMode="auto">
          <a:xfrm>
            <a:off x="8380475" y="2871215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8574191" name="Rectangle 48"/>
          <p:cNvSpPr/>
          <p:nvPr/>
        </p:nvSpPr>
        <p:spPr bwMode="auto">
          <a:xfrm>
            <a:off x="8650224" y="2871215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3662026" name="Rectangle 49"/>
          <p:cNvSpPr/>
          <p:nvPr/>
        </p:nvSpPr>
        <p:spPr bwMode="auto">
          <a:xfrm>
            <a:off x="8919972" y="2871215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8120060" name="Rectangle 50"/>
          <p:cNvSpPr/>
          <p:nvPr/>
        </p:nvSpPr>
        <p:spPr bwMode="auto">
          <a:xfrm>
            <a:off x="9189719" y="2871215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1208814" name="Rectangle 51"/>
          <p:cNvSpPr/>
          <p:nvPr/>
        </p:nvSpPr>
        <p:spPr bwMode="auto">
          <a:xfrm>
            <a:off x="9459467" y="2871215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7626376" name="Rectangle 52"/>
          <p:cNvSpPr/>
          <p:nvPr/>
        </p:nvSpPr>
        <p:spPr bwMode="auto">
          <a:xfrm>
            <a:off x="7571231" y="3140963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9839080" name="Rectangle 53"/>
          <p:cNvSpPr/>
          <p:nvPr/>
        </p:nvSpPr>
        <p:spPr bwMode="auto">
          <a:xfrm>
            <a:off x="7840979" y="3140963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5935670" name="Rectangle 54"/>
          <p:cNvSpPr/>
          <p:nvPr/>
        </p:nvSpPr>
        <p:spPr bwMode="auto">
          <a:xfrm>
            <a:off x="8110727" y="3140963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3779256" name="Rectangle 55"/>
          <p:cNvSpPr/>
          <p:nvPr/>
        </p:nvSpPr>
        <p:spPr bwMode="auto">
          <a:xfrm>
            <a:off x="8380475" y="3140963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1107256" name="Rectangle 56"/>
          <p:cNvSpPr/>
          <p:nvPr/>
        </p:nvSpPr>
        <p:spPr bwMode="auto">
          <a:xfrm>
            <a:off x="8650224" y="3140963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7858113" name="Rectangle 57"/>
          <p:cNvSpPr/>
          <p:nvPr/>
        </p:nvSpPr>
        <p:spPr bwMode="auto">
          <a:xfrm>
            <a:off x="8919972" y="3140963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2248375" name="Rectangle 58"/>
          <p:cNvSpPr/>
          <p:nvPr/>
        </p:nvSpPr>
        <p:spPr bwMode="auto">
          <a:xfrm>
            <a:off x="9189719" y="3140963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051026" name="Rectangle 59"/>
          <p:cNvSpPr/>
          <p:nvPr/>
        </p:nvSpPr>
        <p:spPr bwMode="auto">
          <a:xfrm>
            <a:off x="9459467" y="3140963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449791" name="Rectangle 60"/>
          <p:cNvSpPr/>
          <p:nvPr/>
        </p:nvSpPr>
        <p:spPr bwMode="auto">
          <a:xfrm>
            <a:off x="7571231" y="3410711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1420437" name="Rectangle 61"/>
          <p:cNvSpPr/>
          <p:nvPr/>
        </p:nvSpPr>
        <p:spPr bwMode="auto">
          <a:xfrm>
            <a:off x="7840979" y="3410711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0606450" name="Rectangle 62"/>
          <p:cNvSpPr/>
          <p:nvPr/>
        </p:nvSpPr>
        <p:spPr bwMode="auto">
          <a:xfrm>
            <a:off x="8110727" y="3410711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5528417" name="Rectangle 63"/>
          <p:cNvSpPr/>
          <p:nvPr/>
        </p:nvSpPr>
        <p:spPr bwMode="auto">
          <a:xfrm>
            <a:off x="8380475" y="3410711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6896042" name="Rectangle 64"/>
          <p:cNvSpPr/>
          <p:nvPr/>
        </p:nvSpPr>
        <p:spPr bwMode="auto">
          <a:xfrm>
            <a:off x="8650224" y="3410711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6188336" name="Rectangle 65"/>
          <p:cNvSpPr/>
          <p:nvPr/>
        </p:nvSpPr>
        <p:spPr bwMode="auto">
          <a:xfrm>
            <a:off x="8919972" y="3410711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2496949" name="Rectangle 66"/>
          <p:cNvSpPr/>
          <p:nvPr/>
        </p:nvSpPr>
        <p:spPr bwMode="auto">
          <a:xfrm>
            <a:off x="9189719" y="3410711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57338" name="Rectangle 67"/>
          <p:cNvSpPr/>
          <p:nvPr/>
        </p:nvSpPr>
        <p:spPr bwMode="auto">
          <a:xfrm>
            <a:off x="9459467" y="3410711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6691816" name="Rectangle 68"/>
          <p:cNvSpPr/>
          <p:nvPr/>
        </p:nvSpPr>
        <p:spPr bwMode="auto">
          <a:xfrm>
            <a:off x="7571231" y="3680459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4497786" name="Rectangle 69"/>
          <p:cNvSpPr/>
          <p:nvPr/>
        </p:nvSpPr>
        <p:spPr bwMode="auto">
          <a:xfrm>
            <a:off x="7840979" y="3680459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853760" name="Rectangle 70"/>
          <p:cNvSpPr/>
          <p:nvPr/>
        </p:nvSpPr>
        <p:spPr bwMode="auto">
          <a:xfrm>
            <a:off x="8110727" y="3680459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7710622" name="Rectangle 71"/>
          <p:cNvSpPr/>
          <p:nvPr/>
        </p:nvSpPr>
        <p:spPr bwMode="auto">
          <a:xfrm>
            <a:off x="8380475" y="3680459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5756711" name="Rectangle 72"/>
          <p:cNvSpPr/>
          <p:nvPr/>
        </p:nvSpPr>
        <p:spPr bwMode="auto">
          <a:xfrm>
            <a:off x="8650224" y="3680459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9442494" name="Rectangle 73"/>
          <p:cNvSpPr/>
          <p:nvPr/>
        </p:nvSpPr>
        <p:spPr bwMode="auto">
          <a:xfrm>
            <a:off x="8919972" y="3680459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8402246" name="Rectangle 74"/>
          <p:cNvSpPr/>
          <p:nvPr/>
        </p:nvSpPr>
        <p:spPr bwMode="auto">
          <a:xfrm>
            <a:off x="9189719" y="3680459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5898191" name="Rectangle 75"/>
          <p:cNvSpPr/>
          <p:nvPr/>
        </p:nvSpPr>
        <p:spPr bwMode="auto">
          <a:xfrm>
            <a:off x="9459467" y="3680459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1252998" name="Rectangle 76"/>
          <p:cNvSpPr/>
          <p:nvPr/>
        </p:nvSpPr>
        <p:spPr bwMode="auto">
          <a:xfrm>
            <a:off x="7571231" y="395020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127809" name="Rectangle 77"/>
          <p:cNvSpPr/>
          <p:nvPr/>
        </p:nvSpPr>
        <p:spPr bwMode="auto">
          <a:xfrm>
            <a:off x="7840979" y="395020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4528221" name="Rectangle 78"/>
          <p:cNvSpPr/>
          <p:nvPr/>
        </p:nvSpPr>
        <p:spPr bwMode="auto">
          <a:xfrm>
            <a:off x="8110727" y="395020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2504469" name="Rectangle 79"/>
          <p:cNvSpPr/>
          <p:nvPr/>
        </p:nvSpPr>
        <p:spPr bwMode="auto">
          <a:xfrm>
            <a:off x="8380475" y="395020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0107683" name="Rectangle 80"/>
          <p:cNvSpPr/>
          <p:nvPr/>
        </p:nvSpPr>
        <p:spPr bwMode="auto">
          <a:xfrm>
            <a:off x="8650224" y="395020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7073911" name="Rectangle 81"/>
          <p:cNvSpPr/>
          <p:nvPr/>
        </p:nvSpPr>
        <p:spPr bwMode="auto">
          <a:xfrm>
            <a:off x="8919972" y="3950208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5770845" name="Rectangle 82"/>
          <p:cNvSpPr/>
          <p:nvPr/>
        </p:nvSpPr>
        <p:spPr bwMode="auto">
          <a:xfrm>
            <a:off x="9189719" y="3950208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8700593" name="Rectangle 83"/>
          <p:cNvSpPr/>
          <p:nvPr/>
        </p:nvSpPr>
        <p:spPr bwMode="auto">
          <a:xfrm>
            <a:off x="9459467" y="3950208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0366378" name="Rectangle 84"/>
          <p:cNvSpPr/>
          <p:nvPr/>
        </p:nvSpPr>
        <p:spPr bwMode="auto">
          <a:xfrm>
            <a:off x="7571231" y="4219956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2691584" name="Rectangle 85"/>
          <p:cNvSpPr/>
          <p:nvPr/>
        </p:nvSpPr>
        <p:spPr bwMode="auto">
          <a:xfrm>
            <a:off x="7840979" y="4219956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0179149" name="Rectangle 86"/>
          <p:cNvSpPr/>
          <p:nvPr/>
        </p:nvSpPr>
        <p:spPr bwMode="auto">
          <a:xfrm>
            <a:off x="8110727" y="4219956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1403363" name="Rectangle 87"/>
          <p:cNvSpPr/>
          <p:nvPr/>
        </p:nvSpPr>
        <p:spPr bwMode="auto">
          <a:xfrm>
            <a:off x="8380475" y="4219956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2318202" name="Rectangle 88"/>
          <p:cNvSpPr/>
          <p:nvPr/>
        </p:nvSpPr>
        <p:spPr bwMode="auto">
          <a:xfrm>
            <a:off x="8650224" y="4219956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9389559" name="Rectangle 89"/>
          <p:cNvSpPr/>
          <p:nvPr/>
        </p:nvSpPr>
        <p:spPr bwMode="auto">
          <a:xfrm>
            <a:off x="8919972" y="4219956"/>
            <a:ext cx="24688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7730722" name="Rectangle 90"/>
          <p:cNvSpPr/>
          <p:nvPr/>
        </p:nvSpPr>
        <p:spPr bwMode="auto">
          <a:xfrm>
            <a:off x="9189719" y="4219956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3636520" name="Rectangle 91"/>
          <p:cNvSpPr/>
          <p:nvPr/>
        </p:nvSpPr>
        <p:spPr bwMode="auto">
          <a:xfrm>
            <a:off x="9459467" y="4219956"/>
            <a:ext cx="246888" cy="246888"/>
          </a:xfrm>
          <a:prstGeom prst="rect">
            <a:avLst/>
          </a:prstGeom>
          <a:solidFill>
            <a:srgbClr val="DCE6FB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4840855" name="TextBox 92"/>
          <p:cNvSpPr txBox="1"/>
          <p:nvPr/>
        </p:nvSpPr>
        <p:spPr bwMode="auto">
          <a:xfrm>
            <a:off x="5852160" y="4617720"/>
            <a:ext cx="560527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950" b="0">
                <a:solidFill>
                  <a:srgbClr val="2563EB"/>
                </a:solidFill>
                <a:latin typeface="Consolas"/>
              </a:rPr>
              <a:t>■</a:t>
            </a:r>
            <a:r>
              <a:rPr sz="950" b="0">
                <a:solidFill>
                  <a:srgbClr val="6B7A93"/>
                </a:solidFill>
                <a:latin typeface="Consolas"/>
              </a:rPr>
              <a:t>  H block      </a:t>
            </a:r>
            <a:r>
              <a:rPr sz="950" b="0">
                <a:solidFill>
                  <a:srgbClr val="6B7A93"/>
                </a:solidFill>
                <a:latin typeface="Consolas"/>
              </a:rPr>
              <a:t>□</a:t>
            </a:r>
            <a:r>
              <a:rPr sz="950" b="0">
                <a:solidFill>
                  <a:srgbClr val="6B7A93"/>
                </a:solidFill>
                <a:latin typeface="Consolas"/>
              </a:rPr>
              <a:t>  zeros</a:t>
            </a:r>
            <a:endParaRPr/>
          </a:p>
        </p:txBody>
      </p:sp>
      <p:sp>
        <p:nvSpPr>
          <p:cNvPr id="1714983203" name="TextBox 93"/>
          <p:cNvSpPr txBox="1"/>
          <p:nvPr/>
        </p:nvSpPr>
        <p:spPr bwMode="auto">
          <a:xfrm>
            <a:off x="5852160" y="4937760"/>
            <a:ext cx="5605272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050" b="0">
                <a:solidFill>
                  <a:srgbClr val="475569"/>
                </a:solidFill>
                <a:latin typeface="Calibri"/>
              </a:rPr>
              <a:t>Identity keeps q1, q2 untouched — and fills the matrix with 0s.</a:t>
            </a:r>
            <a:endParaRPr/>
          </a:p>
        </p:txBody>
      </p:sp>
      <p:sp>
        <p:nvSpPr>
          <p:cNvPr id="12726741" name="Rounded Rectangle 31"/>
          <p:cNvSpPr/>
          <p:nvPr/>
        </p:nvSpPr>
        <p:spPr bwMode="auto">
          <a:xfrm>
            <a:off x="502920" y="562356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F4EFFD"/>
          </a:solidFill>
          <a:ln w="9525">
            <a:solidFill>
              <a:srgbClr val="F4EF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320381" name="TextBox 94"/>
          <p:cNvSpPr txBox="1"/>
          <p:nvPr/>
        </p:nvSpPr>
        <p:spPr bwMode="auto">
          <a:xfrm>
            <a:off x="731520" y="56235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7C3AED"/>
                </a:solidFill>
                <a:latin typeface="Calibri"/>
              </a:rPr>
              <a:t>Bottom line:  </a:t>
            </a:r>
            <a:r>
              <a:rPr sz="1200" b="0">
                <a:solidFill>
                  <a:srgbClr val="475569"/>
                </a:solidFill>
                <a:latin typeface="Calibri"/>
              </a:rPr>
              <a:t>unnecessarily large — only 16 of 64 entries are non-zero, the rest is 0s.</a:t>
            </a:r>
            <a:endParaRPr/>
          </a:p>
        </p:txBody>
      </p:sp>
      <p:sp>
        <p:nvSpPr>
          <p:cNvPr id="1960999172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5511975" name="TextBox 95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1453212354" name="TextBox 96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05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64421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7867123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>
                <a:solidFill>
                  <a:srgbClr val="D97706"/>
                </a:solidFill>
                <a:latin typeface="Consolas"/>
              </a:rPr>
              <a:t>MATH 03 · A NAIVE IDEA</a:t>
            </a:r>
            <a:endParaRPr/>
          </a:p>
        </p:txBody>
      </p:sp>
      <p:sp>
        <p:nvSpPr>
          <p:cNvPr id="1577766905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0F182B"/>
                </a:solidFill>
                <a:latin typeface="Calibri"/>
              </a:rPr>
              <a:t>The shortcut that falls apart</a:t>
            </a:r>
            <a:endParaRPr/>
          </a:p>
        </p:txBody>
      </p:sp>
      <p:sp>
        <p:nvSpPr>
          <p:cNvPr id="615115006" name="Rounded Rectangle 17"/>
          <p:cNvSpPr/>
          <p:nvPr/>
        </p:nvSpPr>
        <p:spPr bwMode="auto">
          <a:xfrm>
            <a:off x="502920" y="1554480"/>
            <a:ext cx="5504687" cy="3017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2195647" name="Rectangle 18"/>
          <p:cNvSpPr/>
          <p:nvPr/>
        </p:nvSpPr>
        <p:spPr bwMode="auto">
          <a:xfrm>
            <a:off x="704088" y="1746504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0846416" name="TextBox 19"/>
          <p:cNvSpPr txBox="1"/>
          <p:nvPr/>
        </p:nvSpPr>
        <p:spPr bwMode="auto">
          <a:xfrm>
            <a:off x="914400" y="1691639"/>
            <a:ext cx="48646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159E4A"/>
                </a:solidFill>
                <a:latin typeface="Consolas"/>
              </a:rPr>
              <a:t>THE IDEA</a:t>
            </a:r>
            <a:endParaRPr/>
          </a:p>
        </p:txBody>
      </p:sp>
      <p:sp>
        <p:nvSpPr>
          <p:cNvPr id="1544807544" name="Oval 5"/>
          <p:cNvSpPr/>
          <p:nvPr/>
        </p:nvSpPr>
        <p:spPr bwMode="auto">
          <a:xfrm>
            <a:off x="777240" y="2167127"/>
            <a:ext cx="109728" cy="109728"/>
          </a:xfrm>
          <a:prstGeom prst="ellipse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5562944" name="TextBox 20"/>
          <p:cNvSpPr txBox="1"/>
          <p:nvPr/>
        </p:nvSpPr>
        <p:spPr bwMode="auto">
          <a:xfrm>
            <a:off x="1005840" y="210312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Never look at the whole state when applying a gate.</a:t>
            </a:r>
            <a:endParaRPr/>
          </a:p>
        </p:txBody>
      </p:sp>
      <p:sp>
        <p:nvSpPr>
          <p:cNvPr id="176733014" name="Oval 5"/>
          <p:cNvSpPr/>
          <p:nvPr/>
        </p:nvSpPr>
        <p:spPr bwMode="auto">
          <a:xfrm>
            <a:off x="777240" y="2898647"/>
            <a:ext cx="109728" cy="109728"/>
          </a:xfrm>
          <a:prstGeom prst="ellipse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0376349" name="TextBox 21"/>
          <p:cNvSpPr txBox="1"/>
          <p:nvPr/>
        </p:nvSpPr>
        <p:spPr bwMode="auto">
          <a:xfrm>
            <a:off x="1005840" y="2834639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Apply each gate qubit-wise — like classical bits.</a:t>
            </a:r>
            <a:endParaRPr/>
          </a:p>
        </p:txBody>
      </p:sp>
      <p:sp>
        <p:nvSpPr>
          <p:cNvPr id="115715628" name="Oval 5"/>
          <p:cNvSpPr/>
          <p:nvPr/>
        </p:nvSpPr>
        <p:spPr bwMode="auto">
          <a:xfrm>
            <a:off x="777240" y="3630168"/>
            <a:ext cx="109728" cy="109728"/>
          </a:xfrm>
          <a:prstGeom prst="ellipse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1219104" name="TextBox 22"/>
          <p:cNvSpPr txBox="1"/>
          <p:nvPr/>
        </p:nvSpPr>
        <p:spPr bwMode="auto">
          <a:xfrm>
            <a:off x="1005840" y="356616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Kronecker everything together only at the very end.</a:t>
            </a:r>
            <a:endParaRPr/>
          </a:p>
        </p:txBody>
      </p:sp>
      <p:sp>
        <p:nvSpPr>
          <p:cNvPr id="948568192" name="Rounded Rectangle 17"/>
          <p:cNvSpPr/>
          <p:nvPr/>
        </p:nvSpPr>
        <p:spPr bwMode="auto">
          <a:xfrm>
            <a:off x="6172200" y="1554480"/>
            <a:ext cx="5513832" cy="3017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5642096" name="Rectangle 18"/>
          <p:cNvSpPr/>
          <p:nvPr/>
        </p:nvSpPr>
        <p:spPr bwMode="auto">
          <a:xfrm>
            <a:off x="6373368" y="1746504"/>
            <a:ext cx="13716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0299572" name="TextBox 23"/>
          <p:cNvSpPr txBox="1"/>
          <p:nvPr/>
        </p:nvSpPr>
        <p:spPr bwMode="auto">
          <a:xfrm>
            <a:off x="6583680" y="1691639"/>
            <a:ext cx="48737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DB2777"/>
                </a:solidFill>
                <a:latin typeface="Consolas"/>
              </a:rPr>
              <a:t>WHY IT FALLS APART</a:t>
            </a:r>
            <a:endParaRPr/>
          </a:p>
        </p:txBody>
      </p:sp>
      <p:sp>
        <p:nvSpPr>
          <p:cNvPr id="1992508504" name="TextBox 24"/>
          <p:cNvSpPr txBox="1"/>
          <p:nvPr/>
        </p:nvSpPr>
        <p:spPr bwMode="auto">
          <a:xfrm>
            <a:off x="6400800" y="2103120"/>
            <a:ext cx="5056632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One multi-qubit gate mixes the qubits for good:</a:t>
            </a:r>
            <a:endParaRPr/>
          </a:p>
        </p:txBody>
      </p:sp>
      <p:sp>
        <p:nvSpPr>
          <p:cNvPr id="712939966" name="TextBox 25"/>
          <p:cNvSpPr txBox="1"/>
          <p:nvPr/>
        </p:nvSpPr>
        <p:spPr bwMode="auto">
          <a:xfrm>
            <a:off x="6400800" y="2606040"/>
            <a:ext cx="5056632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450" b="1">
                <a:solidFill>
                  <a:srgbClr val="0F182B"/>
                </a:solidFill>
                <a:latin typeface="Cambria Math"/>
              </a:rPr>
              <a:t>H ⊗ H  →  CNOT  →  ( 0.707, 0, 0, 0.707 )</a:t>
            </a:r>
            <a:endParaRPr/>
          </a:p>
        </p:txBody>
      </p:sp>
      <p:sp>
        <p:nvSpPr>
          <p:cNvPr id="449128179" name="TextBox 26"/>
          <p:cNvSpPr txBox="1"/>
          <p:nvPr/>
        </p:nvSpPr>
        <p:spPr bwMode="auto">
          <a:xfrm>
            <a:off x="6400800" y="3246120"/>
            <a:ext cx="50566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This state can no longer be written as two single-qubit vectors — qubit-wise bookkeeping dies here.</a:t>
            </a:r>
            <a:endParaRPr/>
          </a:p>
        </p:txBody>
      </p:sp>
      <p:sp>
        <p:nvSpPr>
          <p:cNvPr id="113558801" name="Rounded Rectangle 31"/>
          <p:cNvSpPr/>
          <p:nvPr/>
        </p:nvSpPr>
        <p:spPr bwMode="auto">
          <a:xfrm>
            <a:off x="502920" y="562356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FCF2F6"/>
          </a:solidFill>
          <a:ln w="9525">
            <a:solidFill>
              <a:srgbClr val="FCF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8297418" name="TextBox 32"/>
          <p:cNvSpPr txBox="1"/>
          <p:nvPr/>
        </p:nvSpPr>
        <p:spPr bwMode="auto">
          <a:xfrm>
            <a:off x="731520" y="56235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DB2777"/>
                </a:solidFill>
                <a:latin typeface="Calibri"/>
              </a:rPr>
              <a:t>Falls apart exactly when:  </a:t>
            </a:r>
            <a:r>
              <a:rPr sz="1200" b="0">
                <a:solidFill>
                  <a:srgbClr val="475569"/>
                </a:solidFill>
                <a:latin typeface="Calibri"/>
              </a:rPr>
              <a:t>a multi-qubit gate has already acted — the state is entangled.</a:t>
            </a:r>
            <a:endParaRPr/>
          </a:p>
        </p:txBody>
      </p:sp>
      <p:sp>
        <p:nvSpPr>
          <p:cNvPr id="2132646559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7384496" name="TextBox 34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514499616" name="TextBox 35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06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226492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9975211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>
                <a:solidFill>
                  <a:srgbClr val="159E4A"/>
                </a:solidFill>
                <a:latin typeface="Consolas"/>
              </a:rPr>
              <a:t>MATH 04 · THE FIX</a:t>
            </a:r>
            <a:endParaRPr/>
          </a:p>
        </p:txBody>
      </p:sp>
      <p:sp>
        <p:nvSpPr>
          <p:cNvPr id="1835575033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0F182B"/>
                </a:solidFill>
                <a:latin typeface="Calibri"/>
              </a:rPr>
              <a:t>Group the amplitudes, multiply small</a:t>
            </a:r>
            <a:endParaRPr/>
          </a:p>
        </p:txBody>
      </p:sp>
      <p:sp>
        <p:nvSpPr>
          <p:cNvPr id="1554650069" name="Rounded Rectangle 17"/>
          <p:cNvSpPr/>
          <p:nvPr/>
        </p:nvSpPr>
        <p:spPr bwMode="auto">
          <a:xfrm>
            <a:off x="502920" y="1554480"/>
            <a:ext cx="5504687" cy="3017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91213" name="Rectangle 18"/>
          <p:cNvSpPr/>
          <p:nvPr/>
        </p:nvSpPr>
        <p:spPr bwMode="auto">
          <a:xfrm>
            <a:off x="704088" y="174650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2182635" name="TextBox 19"/>
          <p:cNvSpPr txBox="1"/>
          <p:nvPr/>
        </p:nvSpPr>
        <p:spPr bwMode="auto">
          <a:xfrm>
            <a:off x="914400" y="1691639"/>
            <a:ext cx="48646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2563EB"/>
                </a:solidFill>
                <a:latin typeface="Consolas"/>
              </a:rPr>
              <a:t>GROUP BY UNCHANGED BITS</a:t>
            </a:r>
            <a:endParaRPr/>
          </a:p>
        </p:txBody>
      </p:sp>
      <p:sp>
        <p:nvSpPr>
          <p:cNvPr id="801458932" name="TextBox 20"/>
          <p:cNvSpPr txBox="1"/>
          <p:nvPr/>
        </p:nvSpPr>
        <p:spPr bwMode="auto">
          <a:xfrm>
            <a:off x="731520" y="2103120"/>
            <a:ext cx="5047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3-qubit state, gate on q0 → pair up amplitudes sharing the same q1 q2:</a:t>
            </a:r>
            <a:endParaRPr/>
          </a:p>
        </p:txBody>
      </p:sp>
      <p:sp>
        <p:nvSpPr>
          <p:cNvPr id="837813203" name="Rounded Rectangle 17"/>
          <p:cNvSpPr/>
          <p:nvPr/>
        </p:nvSpPr>
        <p:spPr bwMode="auto">
          <a:xfrm>
            <a:off x="731520" y="3017519"/>
            <a:ext cx="1133856" cy="42062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100" b="1">
                <a:solidFill>
                  <a:srgbClr val="0F182B"/>
                </a:solidFill>
                <a:latin typeface="Consolas"/>
              </a:rPr>
              <a:t>( a₀ a₁ )</a:t>
            </a:r>
            <a:endParaRPr/>
          </a:p>
        </p:txBody>
      </p:sp>
      <p:sp>
        <p:nvSpPr>
          <p:cNvPr id="585436658" name="Rounded Rectangle 17"/>
          <p:cNvSpPr/>
          <p:nvPr/>
        </p:nvSpPr>
        <p:spPr bwMode="auto">
          <a:xfrm>
            <a:off x="1975104" y="3017519"/>
            <a:ext cx="1133856" cy="42062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100" b="1">
                <a:solidFill>
                  <a:srgbClr val="0F182B"/>
                </a:solidFill>
                <a:latin typeface="Consolas"/>
              </a:rPr>
              <a:t>( a₂ a₃ )</a:t>
            </a:r>
            <a:endParaRPr/>
          </a:p>
        </p:txBody>
      </p:sp>
      <p:sp>
        <p:nvSpPr>
          <p:cNvPr id="1641927824" name="Rounded Rectangle 17"/>
          <p:cNvSpPr/>
          <p:nvPr/>
        </p:nvSpPr>
        <p:spPr bwMode="auto">
          <a:xfrm>
            <a:off x="3218688" y="3017519"/>
            <a:ext cx="1133856" cy="42062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100" b="1">
                <a:solidFill>
                  <a:srgbClr val="0F182B"/>
                </a:solidFill>
                <a:latin typeface="Consolas"/>
              </a:rPr>
              <a:t>( a₄ a₅ )</a:t>
            </a:r>
            <a:endParaRPr/>
          </a:p>
        </p:txBody>
      </p:sp>
      <p:sp>
        <p:nvSpPr>
          <p:cNvPr id="637454666" name="Rounded Rectangle 17"/>
          <p:cNvSpPr/>
          <p:nvPr/>
        </p:nvSpPr>
        <p:spPr bwMode="auto">
          <a:xfrm>
            <a:off x="4462272" y="3017519"/>
            <a:ext cx="1133856" cy="42062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100" b="1">
                <a:solidFill>
                  <a:srgbClr val="0F182B"/>
                </a:solidFill>
                <a:latin typeface="Consolas"/>
              </a:rPr>
              <a:t>( a₆ a₇ )</a:t>
            </a:r>
            <a:endParaRPr/>
          </a:p>
        </p:txBody>
      </p:sp>
      <p:sp>
        <p:nvSpPr>
          <p:cNvPr id="772836996" name="TextBox 21"/>
          <p:cNvSpPr txBox="1"/>
          <p:nvPr/>
        </p:nvSpPr>
        <p:spPr bwMode="auto">
          <a:xfrm>
            <a:off x="731520" y="3749039"/>
            <a:ext cx="5047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same (q1 q2) → one group · q0 mixes inside the pair</a:t>
            </a:r>
            <a:endParaRPr/>
          </a:p>
        </p:txBody>
      </p:sp>
      <p:sp>
        <p:nvSpPr>
          <p:cNvPr id="1508992202" name="Rounded Rectangle 17"/>
          <p:cNvSpPr/>
          <p:nvPr/>
        </p:nvSpPr>
        <p:spPr bwMode="auto">
          <a:xfrm>
            <a:off x="6172200" y="1554480"/>
            <a:ext cx="5513832" cy="3017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9040411" name="Rectangle 18"/>
          <p:cNvSpPr/>
          <p:nvPr/>
        </p:nvSpPr>
        <p:spPr bwMode="auto">
          <a:xfrm>
            <a:off x="6373368" y="174650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0858413" name="TextBox 22"/>
          <p:cNvSpPr txBox="1"/>
          <p:nvPr/>
        </p:nvSpPr>
        <p:spPr bwMode="auto">
          <a:xfrm>
            <a:off x="6583680" y="1691639"/>
            <a:ext cx="48737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7C3AED"/>
                </a:solidFill>
                <a:latin typeface="Consolas"/>
              </a:rPr>
              <a:t>THE MATHS</a:t>
            </a:r>
            <a:endParaRPr/>
          </a:p>
        </p:txBody>
      </p:sp>
      <p:sp>
        <p:nvSpPr>
          <p:cNvPr id="744579808" name="TextBox 23"/>
          <p:cNvSpPr txBox="1"/>
          <p:nvPr/>
        </p:nvSpPr>
        <p:spPr bwMode="auto">
          <a:xfrm>
            <a:off x="6400800" y="2103120"/>
            <a:ext cx="5056632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Instead of one 8×8 multiplication:</a:t>
            </a:r>
            <a:endParaRPr/>
          </a:p>
        </p:txBody>
      </p:sp>
      <p:sp>
        <p:nvSpPr>
          <p:cNvPr id="1173413909" name="TextBox 24"/>
          <p:cNvSpPr txBox="1"/>
          <p:nvPr/>
        </p:nvSpPr>
        <p:spPr bwMode="auto">
          <a:xfrm>
            <a:off x="6400800" y="2560320"/>
            <a:ext cx="5056632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2200" b="1">
                <a:solidFill>
                  <a:srgbClr val="0F182B"/>
                </a:solidFill>
                <a:latin typeface="Cambria Math"/>
              </a:rPr>
              <a:t>4  ×  ( 2×2 )</a:t>
            </a:r>
            <a:endParaRPr/>
          </a:p>
        </p:txBody>
      </p:sp>
      <p:sp>
        <p:nvSpPr>
          <p:cNvPr id="1087381874" name="TextBox 25"/>
          <p:cNvSpPr txBox="1"/>
          <p:nvPr/>
        </p:nvSpPr>
        <p:spPr bwMode="auto">
          <a:xfrm>
            <a:off x="6400800" y="3291840"/>
            <a:ext cx="5056632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0F182B"/>
                </a:solidFill>
                <a:latin typeface="Cambria Math"/>
              </a:rPr>
              <a:t>( a₀ a₁ )  →  H · ( a₀ a₁ )      … same for all 4 groups</a:t>
            </a:r>
            <a:endParaRPr/>
          </a:p>
        </p:txBody>
      </p:sp>
      <p:sp>
        <p:nvSpPr>
          <p:cNvPr id="133716166" name="TextBox 26"/>
          <p:cNvSpPr txBox="1"/>
          <p:nvPr/>
        </p:nvSpPr>
        <p:spPr bwMode="auto">
          <a:xfrm>
            <a:off x="6400800" y="3840480"/>
            <a:ext cx="5056632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four tiny multiplications, one per group</a:t>
            </a:r>
            <a:endParaRPr/>
          </a:p>
        </p:txBody>
      </p:sp>
      <p:sp>
        <p:nvSpPr>
          <p:cNvPr id="946676890" name="Rounded Rectangle 31"/>
          <p:cNvSpPr/>
          <p:nvPr/>
        </p:nvSpPr>
        <p:spPr bwMode="auto">
          <a:xfrm>
            <a:off x="502920" y="562356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D9EFE2"/>
          </a:solidFill>
          <a:ln w="9525">
            <a:solidFill>
              <a:srgbClr val="D9E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9372417" name="TextBox 32"/>
          <p:cNvSpPr txBox="1"/>
          <p:nvPr/>
        </p:nvSpPr>
        <p:spPr bwMode="auto">
          <a:xfrm>
            <a:off x="731520" y="56235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159E4A"/>
                </a:solidFill>
                <a:latin typeface="Calibri"/>
              </a:rPr>
              <a:t>Win:  </a:t>
            </a:r>
            <a:r>
              <a:rPr sz="1200" b="0">
                <a:solidFill>
                  <a:srgbClr val="475569"/>
                </a:solidFill>
                <a:latin typeface="Calibri"/>
              </a:rPr>
              <a:t>four 2×2 multiplications give the exact same result — the 8×8 is never built.</a:t>
            </a:r>
            <a:endParaRPr/>
          </a:p>
        </p:txBody>
      </p:sp>
      <p:sp>
        <p:nvSpPr>
          <p:cNvPr id="731160715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4048807" name="TextBox 34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2082546628" name="TextBox 35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07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431234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1447657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>
                <a:solidFill>
                  <a:srgbClr val="DB2777"/>
                </a:solidFill>
                <a:latin typeface="Consolas"/>
              </a:rPr>
              <a:t>MATH 05 · SCALING UP</a:t>
            </a:r>
            <a:endParaRPr/>
          </a:p>
        </p:txBody>
      </p:sp>
      <p:sp>
        <p:nvSpPr>
          <p:cNvPr id="1500727254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0F182B"/>
                </a:solidFill>
                <a:latin typeface="Calibri"/>
              </a:rPr>
              <a:t>Two-qubit gates: bigger groups, same trick</a:t>
            </a:r>
            <a:endParaRPr/>
          </a:p>
        </p:txBody>
      </p:sp>
      <p:sp>
        <p:nvSpPr>
          <p:cNvPr id="651818900" name="Rounded Rectangle 17"/>
          <p:cNvSpPr/>
          <p:nvPr/>
        </p:nvSpPr>
        <p:spPr bwMode="auto">
          <a:xfrm>
            <a:off x="502920" y="1554480"/>
            <a:ext cx="5504687" cy="3017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3819434" name="Rectangle 18"/>
          <p:cNvSpPr/>
          <p:nvPr/>
        </p:nvSpPr>
        <p:spPr bwMode="auto">
          <a:xfrm>
            <a:off x="704088" y="174650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8531773" name="TextBox 19"/>
          <p:cNvSpPr txBox="1"/>
          <p:nvPr/>
        </p:nvSpPr>
        <p:spPr bwMode="auto">
          <a:xfrm>
            <a:off x="914400" y="1691639"/>
            <a:ext cx="48646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2563EB"/>
                </a:solidFill>
                <a:latin typeface="Consolas"/>
              </a:rPr>
              <a:t>GROUPS OF FOUR</a:t>
            </a:r>
            <a:endParaRPr/>
          </a:p>
        </p:txBody>
      </p:sp>
      <p:sp>
        <p:nvSpPr>
          <p:cNvPr id="180995444" name="TextBox 20"/>
          <p:cNvSpPr txBox="1"/>
          <p:nvPr/>
        </p:nvSpPr>
        <p:spPr bwMode="auto">
          <a:xfrm>
            <a:off x="731520" y="2103120"/>
            <a:ext cx="5047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2-qubit gate on q0 q1, q2 fixed → group amplitudes by the fixed q2:</a:t>
            </a:r>
            <a:endParaRPr/>
          </a:p>
        </p:txBody>
      </p:sp>
      <p:sp>
        <p:nvSpPr>
          <p:cNvPr id="817289836" name="Rounded Rectangle 17"/>
          <p:cNvSpPr/>
          <p:nvPr/>
        </p:nvSpPr>
        <p:spPr bwMode="auto">
          <a:xfrm>
            <a:off x="731520" y="3017519"/>
            <a:ext cx="2240280" cy="42062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100" b="1">
                <a:solidFill>
                  <a:srgbClr val="0F182B"/>
                </a:solidFill>
                <a:latin typeface="Consolas"/>
              </a:rPr>
              <a:t>( a₀ a₁ a₂ a₃ )</a:t>
            </a:r>
            <a:endParaRPr/>
          </a:p>
        </p:txBody>
      </p:sp>
      <p:sp>
        <p:nvSpPr>
          <p:cNvPr id="1634722613" name="Rounded Rectangle 17"/>
          <p:cNvSpPr/>
          <p:nvPr/>
        </p:nvSpPr>
        <p:spPr bwMode="auto">
          <a:xfrm>
            <a:off x="731520" y="3584448"/>
            <a:ext cx="2240280" cy="42062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100" b="1">
                <a:solidFill>
                  <a:srgbClr val="0F182B"/>
                </a:solidFill>
                <a:latin typeface="Consolas"/>
              </a:rPr>
              <a:t>( a₄ a₅ a₆ a₇ )</a:t>
            </a:r>
            <a:endParaRPr/>
          </a:p>
        </p:txBody>
      </p:sp>
      <p:sp>
        <p:nvSpPr>
          <p:cNvPr id="207084494" name="TextBox 21"/>
          <p:cNvSpPr txBox="1"/>
          <p:nvPr/>
        </p:nvSpPr>
        <p:spPr bwMode="auto">
          <a:xfrm>
            <a:off x="3200400" y="306324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q2 = 0</a:t>
            </a:r>
            <a:endParaRPr/>
          </a:p>
          <a:p>
            <a:pPr algn="l">
              <a:spcBef>
                <a:spcPts val="1700"/>
              </a:spcBef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q2 = 1</a:t>
            </a:r>
            <a:endParaRPr/>
          </a:p>
        </p:txBody>
      </p:sp>
      <p:sp>
        <p:nvSpPr>
          <p:cNvPr id="208468822" name="Rounded Rectangle 17"/>
          <p:cNvSpPr/>
          <p:nvPr/>
        </p:nvSpPr>
        <p:spPr bwMode="auto">
          <a:xfrm>
            <a:off x="6172200" y="1554480"/>
            <a:ext cx="5513832" cy="3017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4878888" name="Rectangle 18"/>
          <p:cNvSpPr/>
          <p:nvPr/>
        </p:nvSpPr>
        <p:spPr bwMode="auto">
          <a:xfrm>
            <a:off x="6373368" y="174650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7125360" name="TextBox 22"/>
          <p:cNvSpPr txBox="1"/>
          <p:nvPr/>
        </p:nvSpPr>
        <p:spPr bwMode="auto">
          <a:xfrm>
            <a:off x="6583680" y="1691639"/>
            <a:ext cx="48737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7C3AED"/>
                </a:solidFill>
                <a:latin typeface="Consolas"/>
              </a:rPr>
              <a:t>THE MATHS</a:t>
            </a:r>
            <a:endParaRPr/>
          </a:p>
        </p:txBody>
      </p:sp>
      <p:sp>
        <p:nvSpPr>
          <p:cNvPr id="993989417" name="TextBox 23"/>
          <p:cNvSpPr txBox="1"/>
          <p:nvPr/>
        </p:nvSpPr>
        <p:spPr bwMode="auto">
          <a:xfrm>
            <a:off x="6400800" y="2103120"/>
            <a:ext cx="5056632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Instead of one 8×8 multiplication:</a:t>
            </a:r>
            <a:endParaRPr/>
          </a:p>
        </p:txBody>
      </p:sp>
      <p:sp>
        <p:nvSpPr>
          <p:cNvPr id="1491215635" name="TextBox 24"/>
          <p:cNvSpPr txBox="1"/>
          <p:nvPr/>
        </p:nvSpPr>
        <p:spPr bwMode="auto">
          <a:xfrm>
            <a:off x="6400800" y="2560320"/>
            <a:ext cx="5056632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2200" b="1">
                <a:solidFill>
                  <a:srgbClr val="0F182B"/>
                </a:solidFill>
                <a:latin typeface="Cambria Math"/>
              </a:rPr>
              <a:t>2  ×  ( 4×4 )</a:t>
            </a:r>
            <a:endParaRPr/>
          </a:p>
        </p:txBody>
      </p:sp>
      <p:sp>
        <p:nvSpPr>
          <p:cNvPr id="575014234" name="TextBox 25"/>
          <p:cNvSpPr txBox="1"/>
          <p:nvPr/>
        </p:nvSpPr>
        <p:spPr bwMode="auto">
          <a:xfrm>
            <a:off x="6400800" y="3337560"/>
            <a:ext cx="50566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general: a k-qubit gate on n qubits → 2</a:t>
            </a:r>
            <a:r>
              <a:rPr sz="1150" b="0" baseline="30000">
                <a:solidFill>
                  <a:srgbClr val="475569"/>
                </a:solidFill>
                <a:latin typeface="Calibri"/>
              </a:rPr>
              <a:t>n−k</a:t>
            </a:r>
            <a:r>
              <a:rPr sz="1150" b="0">
                <a:solidFill>
                  <a:srgbClr val="475569"/>
                </a:solidFill>
                <a:latin typeface="Calibri"/>
              </a:rPr>
              <a:t> groups, each a 2</a:t>
            </a:r>
            <a:r>
              <a:rPr sz="1150" b="0" baseline="30000">
                <a:solidFill>
                  <a:srgbClr val="475569"/>
                </a:solidFill>
                <a:latin typeface="Calibri"/>
              </a:rPr>
              <a:t>k</a:t>
            </a:r>
            <a:r>
              <a:rPr sz="1150" b="0">
                <a:solidFill>
                  <a:srgbClr val="475569"/>
                </a:solidFill>
                <a:latin typeface="Calibri"/>
              </a:rPr>
              <a:t> × 2</a:t>
            </a:r>
            <a:r>
              <a:rPr sz="1150" b="0" baseline="30000">
                <a:solidFill>
                  <a:srgbClr val="475569"/>
                </a:solidFill>
                <a:latin typeface="Calibri"/>
              </a:rPr>
              <a:t>k</a:t>
            </a:r>
            <a:r>
              <a:rPr sz="1150" b="0">
                <a:solidFill>
                  <a:srgbClr val="475569"/>
                </a:solidFill>
                <a:latin typeface="Calibri"/>
              </a:rPr>
              <a:t> multiplication</a:t>
            </a:r>
            <a:endParaRPr/>
          </a:p>
        </p:txBody>
      </p:sp>
      <p:sp>
        <p:nvSpPr>
          <p:cNvPr id="668183947" name="Rounded Rectangle 31"/>
          <p:cNvSpPr/>
          <p:nvPr/>
        </p:nvSpPr>
        <p:spPr bwMode="auto">
          <a:xfrm>
            <a:off x="502920" y="562356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EFF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0119595" name="TextBox 32"/>
          <p:cNvSpPr txBox="1"/>
          <p:nvPr/>
        </p:nvSpPr>
        <p:spPr bwMode="auto">
          <a:xfrm>
            <a:off x="731520" y="56235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2563EB"/>
                </a:solidFill>
                <a:latin typeface="Calibri"/>
              </a:rPr>
              <a:t>Same rule as before:  </a:t>
            </a:r>
            <a:r>
              <a:rPr sz="1200" b="0">
                <a:solidFill>
                  <a:srgbClr val="475569"/>
                </a:solidFill>
                <a:latin typeface="Calibri"/>
              </a:rPr>
              <a:t>bigger gate → bigger groups, fewer of them — still no giant matrix.</a:t>
            </a:r>
            <a:endParaRPr/>
          </a:p>
        </p:txBody>
      </p:sp>
      <p:sp>
        <p:nvSpPr>
          <p:cNvPr id="279589498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9802385" name="TextBox 34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304875600" name="TextBox 35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08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03556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352791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>
                <a:solidFill>
                  <a:srgbClr val="D97706"/>
                </a:solidFill>
                <a:latin typeface="Consolas"/>
              </a:rPr>
              <a:t>DESIGN 01 · CIRCUIT MODEL</a:t>
            </a:r>
            <a:endParaRPr/>
          </a:p>
        </p:txBody>
      </p:sp>
      <p:sp>
        <p:nvSpPr>
          <p:cNvPr id="677441239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0F182B"/>
                </a:solidFill>
                <a:latin typeface="Calibri"/>
              </a:rPr>
              <a:t>Lines are time, not wires</a:t>
            </a:r>
            <a:endParaRPr/>
          </a:p>
        </p:txBody>
      </p:sp>
      <p:sp>
        <p:nvSpPr>
          <p:cNvPr id="1267391844" name="Oval 5"/>
          <p:cNvSpPr/>
          <p:nvPr/>
        </p:nvSpPr>
        <p:spPr bwMode="auto">
          <a:xfrm>
            <a:off x="6355080" y="1700784"/>
            <a:ext cx="109728" cy="109728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4032431" name="TextBox 19"/>
          <p:cNvSpPr txBox="1"/>
          <p:nvPr/>
        </p:nvSpPr>
        <p:spPr bwMode="auto">
          <a:xfrm>
            <a:off x="6583680" y="1645920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Each line is a progression along time — each segment can be a different amount of time.</a:t>
            </a:r>
            <a:endParaRPr/>
          </a:p>
        </p:txBody>
      </p:sp>
      <p:sp>
        <p:nvSpPr>
          <p:cNvPr id="293397723" name="Oval 5"/>
          <p:cNvSpPr/>
          <p:nvPr/>
        </p:nvSpPr>
        <p:spPr bwMode="auto">
          <a:xfrm>
            <a:off x="6355080" y="26334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9602061" name="TextBox 20"/>
          <p:cNvSpPr txBox="1"/>
          <p:nvPr/>
        </p:nvSpPr>
        <p:spPr bwMode="auto">
          <a:xfrm>
            <a:off x="6583680" y="25786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Not like Logisim: no splitting a wire to use it in multiple places.</a:t>
            </a:r>
            <a:endParaRPr/>
          </a:p>
        </p:txBody>
      </p:sp>
      <p:sp>
        <p:nvSpPr>
          <p:cNvPr id="921650232" name="Oval 5"/>
          <p:cNvSpPr/>
          <p:nvPr/>
        </p:nvSpPr>
        <p:spPr bwMode="auto">
          <a:xfrm>
            <a:off x="6355080" y="356616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3326398" name="TextBox 21"/>
          <p:cNvSpPr txBox="1"/>
          <p:nvPr/>
        </p:nvSpPr>
        <p:spPr bwMode="auto">
          <a:xfrm>
            <a:off x="6583680" y="3511296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2 bits go into an AND gate and produce a new bit — here that cannot happen.</a:t>
            </a:r>
            <a:endParaRPr/>
          </a:p>
        </p:txBody>
      </p:sp>
      <p:sp>
        <p:nvSpPr>
          <p:cNvPr id="1202310937" name="Oval 5"/>
          <p:cNvSpPr/>
          <p:nvPr/>
        </p:nvSpPr>
        <p:spPr bwMode="auto">
          <a:xfrm>
            <a:off x="6355080" y="4498848"/>
            <a:ext cx="109728" cy="109728"/>
          </a:xfrm>
          <a:prstGeom prst="ellipse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6957660" name="TextBox 22"/>
          <p:cNvSpPr txBox="1"/>
          <p:nvPr/>
        </p:nvSpPr>
        <p:spPr bwMode="auto">
          <a:xfrm>
            <a:off x="6583680" y="4443984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50" b="0">
                <a:solidFill>
                  <a:srgbClr val="475569"/>
                </a:solidFill>
                <a:latin typeface="Calibri"/>
              </a:rPr>
              <a:t>No feedback circuits — so the design changed a lot from what we first expected.</a:t>
            </a:r>
            <a:endParaRPr/>
          </a:p>
        </p:txBody>
      </p:sp>
      <p:sp>
        <p:nvSpPr>
          <p:cNvPr id="1732680181" name="Rounded Rectangle 31"/>
          <p:cNvSpPr/>
          <p:nvPr/>
        </p:nvSpPr>
        <p:spPr bwMode="auto">
          <a:xfrm>
            <a:off x="502920" y="562356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5466611" name="TextBox 32"/>
          <p:cNvSpPr txBox="1"/>
          <p:nvPr/>
        </p:nvSpPr>
        <p:spPr bwMode="auto">
          <a:xfrm>
            <a:off x="731520" y="56235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D97706"/>
                </a:solidFill>
                <a:latin typeface="Calibri"/>
              </a:rPr>
              <a:t>In short:  </a:t>
            </a:r>
            <a:r>
              <a:rPr sz="1200" b="0">
                <a:solidFill>
                  <a:srgbClr val="475569"/>
                </a:solidFill>
                <a:latin typeface="Calibri"/>
              </a:rPr>
              <a:t>the diagram is a timeline of the state — not a circuit of wires.</a:t>
            </a:r>
            <a:endParaRPr/>
          </a:p>
        </p:txBody>
      </p:sp>
      <p:sp>
        <p:nvSpPr>
          <p:cNvPr id="1683926440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3820188" name="TextBox 34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1820064117" name="TextBox 35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09 / 18</a:t>
            </a:r>
            <a:endParaRPr/>
          </a:p>
        </p:txBody>
      </p:sp>
      <p:pic>
        <p:nvPicPr>
          <p:cNvPr id="68233101" name=""/>
          <p:cNvPicPr>
            <a:picLocks noChangeAspect="1"/>
          </p:cNvPicPr>
          <p:nvPr/>
        </p:nvPicPr>
        <p:blipFill rotWithShape="1">
          <a:blip r:embed="rId3"/>
          <a:srcRect l="10686" t="0" r="1869" b="0"/>
          <a:stretch/>
        </p:blipFill>
        <p:spPr bwMode="auto">
          <a:xfrm flipH="0" flipV="0">
            <a:off x="777240" y="1574868"/>
            <a:ext cx="5098676" cy="3197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334126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015400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>
                <a:solidFill>
                  <a:srgbClr val="159E4A"/>
                </a:solidFill>
                <a:latin typeface="Consolas"/>
              </a:rPr>
              <a:t>DESIGN 02 · DECISIONS</a:t>
            </a:r>
            <a:endParaRPr/>
          </a:p>
        </p:txBody>
      </p:sp>
      <p:sp>
        <p:nvSpPr>
          <p:cNvPr id="302528097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0F182B"/>
                </a:solidFill>
                <a:latin typeface="Calibri"/>
              </a:rPr>
              <a:t>Ground rules we locked in</a:t>
            </a:r>
            <a:endParaRPr/>
          </a:p>
        </p:txBody>
      </p:sp>
      <p:sp>
        <p:nvSpPr>
          <p:cNvPr id="353694723" name="Rounded Rectangle 17"/>
          <p:cNvSpPr/>
          <p:nvPr/>
        </p:nvSpPr>
        <p:spPr bwMode="auto">
          <a:xfrm>
            <a:off x="502920" y="1508759"/>
            <a:ext cx="550468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1331518" name="Rectangle 18"/>
          <p:cNvSpPr/>
          <p:nvPr/>
        </p:nvSpPr>
        <p:spPr bwMode="auto">
          <a:xfrm>
            <a:off x="704088" y="170078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7492619" name="TextBox 19"/>
          <p:cNvSpPr txBox="1"/>
          <p:nvPr/>
        </p:nvSpPr>
        <p:spPr bwMode="auto">
          <a:xfrm>
            <a:off x="914400" y="1645919"/>
            <a:ext cx="48646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2563EB"/>
                </a:solidFill>
                <a:latin typeface="Consolas"/>
              </a:rPr>
              <a:t>NO MATHS IN THE UI</a:t>
            </a:r>
            <a:endParaRPr/>
          </a:p>
        </p:txBody>
      </p:sp>
      <p:sp>
        <p:nvSpPr>
          <p:cNvPr id="805979398" name="TextBox 20"/>
          <p:cNvSpPr txBox="1"/>
          <p:nvPr/>
        </p:nvSpPr>
        <p:spPr bwMode="auto">
          <a:xfrm>
            <a:off x="731520" y="2057400"/>
            <a:ext cx="50474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200" b="0">
                <a:solidFill>
                  <a:srgbClr val="475569"/>
                </a:solidFill>
                <a:latin typeface="Calibri"/>
              </a:rPr>
              <a:t>The UI never computes — all maths stays completely out of the UI.</a:t>
            </a:r>
            <a:endParaRPr/>
          </a:p>
        </p:txBody>
      </p:sp>
      <p:sp>
        <p:nvSpPr>
          <p:cNvPr id="814863042" name="Rounded Rectangle 17"/>
          <p:cNvSpPr/>
          <p:nvPr/>
        </p:nvSpPr>
        <p:spPr bwMode="auto">
          <a:xfrm>
            <a:off x="6172200" y="1508759"/>
            <a:ext cx="550468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7828311" name="Rectangle 18"/>
          <p:cNvSpPr/>
          <p:nvPr/>
        </p:nvSpPr>
        <p:spPr bwMode="auto">
          <a:xfrm>
            <a:off x="6373368" y="170078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7064688" name="TextBox 21"/>
          <p:cNvSpPr txBox="1"/>
          <p:nvPr/>
        </p:nvSpPr>
        <p:spPr bwMode="auto">
          <a:xfrm>
            <a:off x="6583680" y="1645919"/>
            <a:ext cx="48646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7C3AED"/>
                </a:solidFill>
                <a:latin typeface="Consolas"/>
              </a:rPr>
              <a:t>RAW ARRAYS AT RUNTIME</a:t>
            </a:r>
            <a:endParaRPr/>
          </a:p>
        </p:txBody>
      </p:sp>
      <p:sp>
        <p:nvSpPr>
          <p:cNvPr id="1405113538" name="TextBox 22"/>
          <p:cNvSpPr txBox="1"/>
          <p:nvPr/>
        </p:nvSpPr>
        <p:spPr bwMode="auto">
          <a:xfrm>
            <a:off x="6400800" y="2057400"/>
            <a:ext cx="50474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200" b="0">
                <a:solidFill>
                  <a:srgbClr val="475569"/>
                </a:solidFill>
                <a:latin typeface="Calibri"/>
              </a:rPr>
              <a:t>Objects only to set up and test — then flattened to raw Float64Arrays.</a:t>
            </a:r>
            <a:endParaRPr/>
          </a:p>
        </p:txBody>
      </p:sp>
      <p:sp>
        <p:nvSpPr>
          <p:cNvPr id="201192053" name="Rounded Rectangle 17"/>
          <p:cNvSpPr/>
          <p:nvPr/>
        </p:nvSpPr>
        <p:spPr bwMode="auto">
          <a:xfrm>
            <a:off x="502920" y="3429000"/>
            <a:ext cx="550468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909803" name="Rectangle 18"/>
          <p:cNvSpPr/>
          <p:nvPr/>
        </p:nvSpPr>
        <p:spPr bwMode="auto">
          <a:xfrm>
            <a:off x="704088" y="3621024"/>
            <a:ext cx="13716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6385609" name="TextBox 23"/>
          <p:cNvSpPr txBox="1"/>
          <p:nvPr/>
        </p:nvSpPr>
        <p:spPr bwMode="auto">
          <a:xfrm>
            <a:off x="914400" y="3566160"/>
            <a:ext cx="48646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DB2777"/>
                </a:solidFill>
                <a:latin typeface="Consolas"/>
              </a:rPr>
              <a:t>BIG ENDIAN IN THE UI</a:t>
            </a:r>
            <a:endParaRPr/>
          </a:p>
        </p:txBody>
      </p:sp>
      <p:sp>
        <p:nvSpPr>
          <p:cNvPr id="868066594" name="TextBox 24"/>
          <p:cNvSpPr txBox="1"/>
          <p:nvPr/>
        </p:nvSpPr>
        <p:spPr bwMode="auto">
          <a:xfrm>
            <a:off x="731520" y="3977639"/>
            <a:ext cx="50474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200" b="0">
                <a:solidFill>
                  <a:srgbClr val="475569"/>
                </a:solidFill>
                <a:latin typeface="Calibri"/>
              </a:rPr>
              <a:t>Matches the standard diagram conventions (q0 leftmost).</a:t>
            </a:r>
            <a:endParaRPr/>
          </a:p>
        </p:txBody>
      </p:sp>
      <p:sp>
        <p:nvSpPr>
          <p:cNvPr id="568601136" name="Rounded Rectangle 17"/>
          <p:cNvSpPr/>
          <p:nvPr/>
        </p:nvSpPr>
        <p:spPr bwMode="auto">
          <a:xfrm>
            <a:off x="6172200" y="3429000"/>
            <a:ext cx="550468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9004977" name="Rectangle 18"/>
          <p:cNvSpPr/>
          <p:nvPr/>
        </p:nvSpPr>
        <p:spPr bwMode="auto">
          <a:xfrm>
            <a:off x="6373368" y="3621024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1017791" name="TextBox 25"/>
          <p:cNvSpPr txBox="1"/>
          <p:nvPr/>
        </p:nvSpPr>
        <p:spPr bwMode="auto">
          <a:xfrm>
            <a:off x="6583680" y="3566160"/>
            <a:ext cx="48646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159E4A"/>
                </a:solidFill>
                <a:latin typeface="Consolas"/>
              </a:rPr>
              <a:t>LITTLE ENDIAN IN JS</a:t>
            </a:r>
            <a:endParaRPr/>
          </a:p>
        </p:txBody>
      </p:sp>
      <p:sp>
        <p:nvSpPr>
          <p:cNvPr id="871668989" name="TextBox 26"/>
          <p:cNvSpPr txBox="1"/>
          <p:nvPr/>
        </p:nvSpPr>
        <p:spPr bwMode="auto">
          <a:xfrm>
            <a:off x="6400800" y="3977639"/>
            <a:ext cx="50474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200" b="0">
                <a:solidFill>
                  <a:srgbClr val="475569"/>
                </a:solidFill>
                <a:latin typeface="Calibri"/>
              </a:rPr>
              <a:t>Keeps the index maths on the computation side simple.</a:t>
            </a:r>
            <a:endParaRPr/>
          </a:p>
        </p:txBody>
      </p:sp>
      <p:sp>
        <p:nvSpPr>
          <p:cNvPr id="2138826923" name="Rounded Rectangle 31"/>
          <p:cNvSpPr/>
          <p:nvPr/>
        </p:nvSpPr>
        <p:spPr bwMode="auto">
          <a:xfrm>
            <a:off x="502920" y="562356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D9EFE2"/>
          </a:solidFill>
          <a:ln w="9525">
            <a:solidFill>
              <a:srgbClr val="D9E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3504387" name="TextBox 32"/>
          <p:cNvSpPr txBox="1"/>
          <p:nvPr/>
        </p:nvSpPr>
        <p:spPr bwMode="auto">
          <a:xfrm>
            <a:off x="731520" y="56235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159E4A"/>
                </a:solidFill>
                <a:latin typeface="Calibri"/>
              </a:rPr>
              <a:t>Why now:  </a:t>
            </a:r>
            <a:r>
              <a:rPr sz="1200" b="0">
                <a:solidFill>
                  <a:srgbClr val="475569"/>
                </a:solidFill>
                <a:latin typeface="Calibri"/>
              </a:rPr>
              <a:t>locked before build-out — so the maths, the UI and the code never disagree.</a:t>
            </a:r>
            <a:endParaRPr/>
          </a:p>
        </p:txBody>
      </p:sp>
      <p:sp>
        <p:nvSpPr>
          <p:cNvPr id="851420197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7351189" name="TextBox 34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738432866" name="TextBox 35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10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821095" name="Oval 1"/>
          <p:cNvSpPr/>
          <p:nvPr/>
        </p:nvSpPr>
        <p:spPr bwMode="auto">
          <a:xfrm>
            <a:off x="9052560" y="-1554480"/>
            <a:ext cx="4754880" cy="4754880"/>
          </a:xfrm>
          <a:prstGeom prst="ellipse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8326254" name="Oval 2"/>
          <p:cNvSpPr/>
          <p:nvPr/>
        </p:nvSpPr>
        <p:spPr bwMode="auto">
          <a:xfrm>
            <a:off x="-1463040" y="4572000"/>
            <a:ext cx="3840480" cy="3840480"/>
          </a:xfrm>
          <a:prstGeom prst="ellipse">
            <a:avLst/>
          </a:prstGeom>
          <a:solidFill>
            <a:srgbClr val="ED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6714984" name="TextBox 1771618134"/>
          <p:cNvSpPr txBox="1"/>
          <p:nvPr/>
        </p:nvSpPr>
        <p:spPr bwMode="auto">
          <a:xfrm>
            <a:off x="548640" y="2651760"/>
            <a:ext cx="11091672" cy="1280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/>
            </a:pPr>
            <a:r>
              <a:rPr sz="5200" b="1">
                <a:solidFill>
                  <a:srgbClr val="0F182B"/>
                </a:solidFill>
                <a:latin typeface="Calibri"/>
              </a:rPr>
              <a:t>No Cloning Theorem</a:t>
            </a:r>
            <a:endParaRPr/>
          </a:p>
        </p:txBody>
      </p:sp>
      <p:sp>
        <p:nvSpPr>
          <p:cNvPr id="1732635962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1711048" name="TextBox 1771618135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607860760" name="TextBox 1771618136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11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898436" name="Oval 1"/>
          <p:cNvSpPr/>
          <p:nvPr/>
        </p:nvSpPr>
        <p:spPr bwMode="auto">
          <a:xfrm>
            <a:off x="9052560" y="-1554480"/>
            <a:ext cx="4754880" cy="4754880"/>
          </a:xfrm>
          <a:prstGeom prst="ellipse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312848" name="Oval 2"/>
          <p:cNvSpPr/>
          <p:nvPr/>
        </p:nvSpPr>
        <p:spPr bwMode="auto">
          <a:xfrm>
            <a:off x="-1463040" y="4572000"/>
            <a:ext cx="3840480" cy="3840480"/>
          </a:xfrm>
          <a:prstGeom prst="ellipse">
            <a:avLst/>
          </a:prstGeom>
          <a:solidFill>
            <a:srgbClr val="ED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9879450" name="TextBox 1771618134"/>
          <p:cNvSpPr txBox="1"/>
          <p:nvPr/>
        </p:nvSpPr>
        <p:spPr bwMode="auto">
          <a:xfrm>
            <a:off x="548640" y="2651760"/>
            <a:ext cx="11091672" cy="1280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/>
            </a:pPr>
            <a:r>
              <a:rPr sz="5200" b="1">
                <a:solidFill>
                  <a:srgbClr val="0F182B"/>
                </a:solidFill>
                <a:latin typeface="Calibri"/>
              </a:rPr>
              <a:t>Mathematics Core</a:t>
            </a:r>
            <a:endParaRPr/>
          </a:p>
        </p:txBody>
      </p:sp>
      <p:sp>
        <p:nvSpPr>
          <p:cNvPr id="1734413821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7344014" name="TextBox 1771618135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722332086" name="TextBox 1771618136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/>
            </a:pPr>
            <a:r>
              <a:rPr sz="950" b="0">
                <a:solidFill>
                  <a:srgbClr val="6B7A93"/>
                </a:solidFill>
                <a:latin typeface="Consolas"/>
              </a:rPr>
              <a:t>12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117347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4678205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563EB"/>
                </a:solidFill>
                <a:latin typeface="Consolas"/>
              </a:rPr>
              <a:t>GATES 01 · SUPERPOSITION</a:t>
            </a:r>
            <a:endParaRPr/>
          </a:p>
        </p:txBody>
      </p:sp>
      <p:sp>
        <p:nvSpPr>
          <p:cNvPr id="1066321769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0F182B"/>
                </a:solidFill>
                <a:latin typeface="Calibri"/>
              </a:rPr>
              <a:t>Hadamard: from definite to 50/50</a:t>
            </a:r>
            <a:endParaRPr/>
          </a:p>
        </p:txBody>
      </p:sp>
      <p:sp>
        <p:nvSpPr>
          <p:cNvPr id="110514144" name="Rounded Rectangle 4"/>
          <p:cNvSpPr/>
          <p:nvPr/>
        </p:nvSpPr>
        <p:spPr bwMode="auto">
          <a:xfrm>
            <a:off x="731520" y="2103120"/>
            <a:ext cx="16459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1410725" name="TextBox 5"/>
          <p:cNvSpPr txBox="1"/>
          <p:nvPr/>
        </p:nvSpPr>
        <p:spPr bwMode="auto">
          <a:xfrm>
            <a:off x="731520" y="2377439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3600" b="1" i="0">
                <a:solidFill>
                  <a:srgbClr val="0F182B"/>
                </a:solidFill>
                <a:latin typeface="Cambria Math"/>
              </a:rPr>
              <a:t>|0&gt;</a:t>
            </a:r>
            <a:endParaRPr/>
          </a:p>
        </p:txBody>
      </p:sp>
      <p:sp>
        <p:nvSpPr>
          <p:cNvPr id="2142514407" name="TextBox 6"/>
          <p:cNvSpPr txBox="1"/>
          <p:nvPr/>
        </p:nvSpPr>
        <p:spPr bwMode="auto">
          <a:xfrm>
            <a:off x="731520" y="3246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6B7A93"/>
                </a:solidFill>
                <a:latin typeface="Consolas"/>
              </a:rPr>
              <a:t>definite state</a:t>
            </a:r>
            <a:endParaRPr/>
          </a:p>
        </p:txBody>
      </p:sp>
      <p:sp>
        <p:nvSpPr>
          <p:cNvPr id="240862331" name="Right Arrow 7"/>
          <p:cNvSpPr/>
          <p:nvPr/>
        </p:nvSpPr>
        <p:spPr bwMode="auto">
          <a:xfrm>
            <a:off x="2514600" y="2697479"/>
            <a:ext cx="640080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0221440" name="TextBox 8"/>
          <p:cNvSpPr txBox="1"/>
          <p:nvPr/>
        </p:nvSpPr>
        <p:spPr bwMode="auto">
          <a:xfrm>
            <a:off x="2468880" y="242316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2563EB"/>
                </a:solidFill>
                <a:latin typeface="Cambria Math"/>
              </a:rPr>
              <a:t>H</a:t>
            </a:r>
            <a:endParaRPr/>
          </a:p>
        </p:txBody>
      </p:sp>
      <p:sp>
        <p:nvSpPr>
          <p:cNvPr id="459676078" name="Rounded Rectangle 9"/>
          <p:cNvSpPr/>
          <p:nvPr/>
        </p:nvSpPr>
        <p:spPr bwMode="auto">
          <a:xfrm>
            <a:off x="3291840" y="2103120"/>
            <a:ext cx="29260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3902186" name="TextBox 10"/>
          <p:cNvSpPr txBox="1"/>
          <p:nvPr/>
        </p:nvSpPr>
        <p:spPr bwMode="auto">
          <a:xfrm>
            <a:off x="3291840" y="22128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6B7A93"/>
                </a:solidFill>
                <a:latin typeface="Consolas"/>
              </a:rPr>
              <a:t>equal superposition</a:t>
            </a:r>
            <a:endParaRPr/>
          </a:p>
        </p:txBody>
      </p:sp>
      <p:sp>
        <p:nvSpPr>
          <p:cNvPr id="2142880812" name="Oval 11"/>
          <p:cNvSpPr/>
          <p:nvPr/>
        </p:nvSpPr>
        <p:spPr bwMode="auto">
          <a:xfrm>
            <a:off x="3703320" y="2514600"/>
            <a:ext cx="731520" cy="731520"/>
          </a:xfrm>
          <a:prstGeom prst="ellipse">
            <a:avLst/>
          </a:prstGeom>
          <a:solidFill>
            <a:srgbClr val="DCE6FB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4864654" name="TextBox 12"/>
          <p:cNvSpPr txBox="1"/>
          <p:nvPr/>
        </p:nvSpPr>
        <p:spPr bwMode="auto">
          <a:xfrm>
            <a:off x="3703320" y="25146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2563EB"/>
                </a:solidFill>
                <a:latin typeface="Cambria Math"/>
              </a:rPr>
              <a:t>|0&gt;</a:t>
            </a:r>
            <a:endParaRPr/>
          </a:p>
        </p:txBody>
      </p:sp>
      <p:sp>
        <p:nvSpPr>
          <p:cNvPr id="33736699" name="TextBox 13"/>
          <p:cNvSpPr txBox="1"/>
          <p:nvPr/>
        </p:nvSpPr>
        <p:spPr bwMode="auto">
          <a:xfrm>
            <a:off x="3703320" y="32644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2563EB"/>
                </a:solidFill>
                <a:latin typeface="Consolas"/>
              </a:rPr>
              <a:t>50%</a:t>
            </a:r>
            <a:endParaRPr/>
          </a:p>
        </p:txBody>
      </p:sp>
      <p:sp>
        <p:nvSpPr>
          <p:cNvPr id="57570480" name="Oval 14"/>
          <p:cNvSpPr/>
          <p:nvPr/>
        </p:nvSpPr>
        <p:spPr bwMode="auto">
          <a:xfrm>
            <a:off x="5074920" y="2514600"/>
            <a:ext cx="731520" cy="731520"/>
          </a:xfrm>
          <a:prstGeom prst="ellipse">
            <a:avLst/>
          </a:prstGeom>
          <a:solidFill>
            <a:srgbClr val="F9DCE9"/>
          </a:solidFill>
          <a:ln w="63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6925247" name="TextBox 15"/>
          <p:cNvSpPr txBox="1"/>
          <p:nvPr/>
        </p:nvSpPr>
        <p:spPr bwMode="auto">
          <a:xfrm>
            <a:off x="5074920" y="25146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DB2777"/>
                </a:solidFill>
                <a:latin typeface="Cambria Math"/>
              </a:rPr>
              <a:t>|1&gt;</a:t>
            </a:r>
            <a:endParaRPr/>
          </a:p>
        </p:txBody>
      </p:sp>
      <p:sp>
        <p:nvSpPr>
          <p:cNvPr id="443192238" name="TextBox 16"/>
          <p:cNvSpPr txBox="1"/>
          <p:nvPr/>
        </p:nvSpPr>
        <p:spPr bwMode="auto">
          <a:xfrm>
            <a:off x="5074920" y="32644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00" b="1" i="0">
                <a:solidFill>
                  <a:srgbClr val="DB2777"/>
                </a:solidFill>
                <a:latin typeface="Consolas"/>
              </a:rPr>
              <a:t>50%</a:t>
            </a:r>
            <a:endParaRPr/>
          </a:p>
        </p:txBody>
      </p:sp>
      <p:sp>
        <p:nvSpPr>
          <p:cNvPr id="1729620233" name="Rounded Rectangle 17"/>
          <p:cNvSpPr/>
          <p:nvPr/>
        </p:nvSpPr>
        <p:spPr bwMode="auto">
          <a:xfrm>
            <a:off x="6492240" y="178308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063581" name="Rectangle 18"/>
          <p:cNvSpPr/>
          <p:nvPr/>
        </p:nvSpPr>
        <p:spPr bwMode="auto">
          <a:xfrm>
            <a:off x="6693407" y="197510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4816525" name="TextBox 19"/>
          <p:cNvSpPr txBox="1"/>
          <p:nvPr/>
        </p:nvSpPr>
        <p:spPr bwMode="auto">
          <a:xfrm>
            <a:off x="6903720" y="192024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2563EB"/>
                </a:solidFill>
                <a:latin typeface="Consolas"/>
              </a:rPr>
              <a:t>THE MATRIX</a:t>
            </a:r>
            <a:endParaRPr/>
          </a:p>
        </p:txBody>
      </p:sp>
      <p:sp>
        <p:nvSpPr>
          <p:cNvPr id="497761624" name="TextBox 20"/>
          <p:cNvSpPr txBox="1"/>
          <p:nvPr/>
        </p:nvSpPr>
        <p:spPr bwMode="auto">
          <a:xfrm>
            <a:off x="6693407" y="2119176"/>
            <a:ext cx="476402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F182B"/>
                </a:solidFill>
                <a:latin typeface="Cambria Math"/>
              </a:rPr>
              <a:t>H = (1/√2) · </a:t>
            </a:r>
            <a:r>
              <a:rPr lang="en-US" sz="1500" b="1" i="0">
                <a:solidFill>
                  <a:srgbClr val="0F182B"/>
                </a:solidFill>
                <a:latin typeface="Cambria Math"/>
              </a:rPr>
              <a:t>   </a:t>
            </a:r>
            <a:r>
              <a:rPr sz="1500" b="1" i="0">
                <a:solidFill>
                  <a:srgbClr val="0F182B"/>
                </a:solidFill>
                <a:latin typeface="Cambria Math"/>
              </a:rPr>
              <a:t>[ 1   1</a:t>
            </a:r>
            <a:r>
              <a:rPr lang="en-US" sz="1500" b="1" i="0">
                <a:solidFill>
                  <a:srgbClr val="0F182B"/>
                </a:solidFill>
                <a:latin typeface="Cambria Math"/>
              </a:rPr>
              <a:t> ]</a:t>
            </a:r>
            <a:r>
              <a:rPr sz="1500" b="1" i="0">
                <a:solidFill>
                  <a:srgbClr val="0F182B"/>
                </a:solidFill>
                <a:latin typeface="Cambria Math"/>
              </a:rPr>
              <a:t>  </a:t>
            </a:r>
            <a:endParaRPr lang="en-US" sz="1500" b="1" i="0">
              <a:solidFill>
                <a:srgbClr val="0F182B"/>
              </a:solidFill>
              <a:latin typeface="Cambria Math"/>
            </a:endParaRPr>
          </a:p>
          <a:p>
            <a:pPr algn="ctr">
              <a:defRPr/>
            </a:pPr>
            <a:r>
              <a:rPr lang="en-US" sz="1500" b="1">
                <a:solidFill>
                  <a:srgbClr val="0F182B"/>
                </a:solidFill>
                <a:latin typeface="Cambria Math"/>
              </a:rPr>
              <a:t>                               [</a:t>
            </a:r>
            <a:r>
              <a:rPr sz="1500" b="1" i="0">
                <a:solidFill>
                  <a:srgbClr val="0F182B"/>
                </a:solidFill>
                <a:latin typeface="Cambria Math"/>
              </a:rPr>
              <a:t> 1  −1 ]</a:t>
            </a:r>
            <a:endParaRPr/>
          </a:p>
        </p:txBody>
      </p:sp>
      <p:sp>
        <p:nvSpPr>
          <p:cNvPr id="680860789" name="Rounded Rectangle 21"/>
          <p:cNvSpPr/>
          <p:nvPr/>
        </p:nvSpPr>
        <p:spPr bwMode="auto">
          <a:xfrm>
            <a:off x="8389620" y="256032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DCE6FB"/>
          </a:solidFill>
          <a:ln w="6350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3403743" name="TextBox 22"/>
          <p:cNvSpPr txBox="1"/>
          <p:nvPr/>
        </p:nvSpPr>
        <p:spPr bwMode="auto">
          <a:xfrm>
            <a:off x="8426196" y="2578608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2563EB"/>
                </a:solidFill>
                <a:latin typeface="Consolas"/>
              </a:rPr>
              <a:t>1/√2 ≈ 0.707</a:t>
            </a:r>
            <a:endParaRPr/>
          </a:p>
        </p:txBody>
      </p:sp>
      <p:sp>
        <p:nvSpPr>
          <p:cNvPr id="2126432766" name="Rounded Rectangle 23"/>
          <p:cNvSpPr/>
          <p:nvPr/>
        </p:nvSpPr>
        <p:spPr bwMode="auto">
          <a:xfrm>
            <a:off x="6492240" y="2971800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483914" name="Rectangle 24"/>
          <p:cNvSpPr/>
          <p:nvPr/>
        </p:nvSpPr>
        <p:spPr bwMode="auto">
          <a:xfrm>
            <a:off x="6693407" y="316382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4587306" name="TextBox 25"/>
          <p:cNvSpPr txBox="1"/>
          <p:nvPr/>
        </p:nvSpPr>
        <p:spPr bwMode="auto">
          <a:xfrm>
            <a:off x="6903720" y="31089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7C3AED"/>
                </a:solidFill>
                <a:latin typeface="Consolas"/>
              </a:rPr>
              <a:t>THE EQUATION</a:t>
            </a:r>
            <a:endParaRPr/>
          </a:p>
        </p:txBody>
      </p:sp>
      <p:sp>
        <p:nvSpPr>
          <p:cNvPr id="1508566897" name="TextBox 26"/>
          <p:cNvSpPr txBox="1"/>
          <p:nvPr/>
        </p:nvSpPr>
        <p:spPr bwMode="auto">
          <a:xfrm>
            <a:off x="6693407" y="3429000"/>
            <a:ext cx="47640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F182B"/>
                </a:solidFill>
                <a:latin typeface="Cambria Math"/>
              </a:rPr>
              <a:t>H |0&gt;  =  (1/√2) · ( |0&gt; + |1&gt; )</a:t>
            </a:r>
            <a:endParaRPr/>
          </a:p>
        </p:txBody>
      </p:sp>
      <p:sp>
        <p:nvSpPr>
          <p:cNvPr id="331012285" name="Rounded Rectangle 27"/>
          <p:cNvSpPr/>
          <p:nvPr/>
        </p:nvSpPr>
        <p:spPr bwMode="auto">
          <a:xfrm>
            <a:off x="6492240" y="4160519"/>
            <a:ext cx="5166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0168125" name="Rectangle 28"/>
          <p:cNvSpPr/>
          <p:nvPr/>
        </p:nvSpPr>
        <p:spPr bwMode="auto">
          <a:xfrm>
            <a:off x="6693407" y="4352544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1148686" name="TextBox 29"/>
          <p:cNvSpPr txBox="1"/>
          <p:nvPr/>
        </p:nvSpPr>
        <p:spPr bwMode="auto">
          <a:xfrm>
            <a:off x="6903720" y="42976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159E4A"/>
                </a:solidFill>
                <a:latin typeface="Consolas"/>
              </a:rPr>
              <a:t>IN OUR KERNEL</a:t>
            </a:r>
            <a:endParaRPr/>
          </a:p>
        </p:txBody>
      </p:sp>
      <p:sp>
        <p:nvSpPr>
          <p:cNvPr id="112480325" name="TextBox 30"/>
          <p:cNvSpPr txBox="1"/>
          <p:nvPr/>
        </p:nvSpPr>
        <p:spPr bwMode="auto">
          <a:xfrm>
            <a:off x="6693407" y="4572000"/>
            <a:ext cx="476402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100" b="0">
                <a:solidFill>
                  <a:srgbClr val="475569"/>
                </a:solidFill>
                <a:latin typeface="Calibri"/>
              </a:rPr>
              <a:t>One small 2×2 matrix updates pairs of amplitudes — a giant 2ⁿ×2ⁿ matrix is never built. Cost: </a:t>
            </a:r>
            <a:r>
              <a:rPr sz="1100" b="1">
                <a:solidFill>
                  <a:srgbClr val="159E4A"/>
                </a:solidFill>
                <a:latin typeface="Calibri"/>
              </a:rPr>
              <a:t>O(2ⁿ) per gate.</a:t>
            </a:r>
            <a:endParaRPr/>
          </a:p>
        </p:txBody>
      </p:sp>
      <p:sp>
        <p:nvSpPr>
          <p:cNvPr id="130590983" name="Rounded Rectangle 31"/>
          <p:cNvSpPr/>
          <p:nvPr/>
        </p:nvSpPr>
        <p:spPr bwMode="auto">
          <a:xfrm>
            <a:off x="502920" y="562356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EFF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9731472" name="TextBox 32"/>
          <p:cNvSpPr txBox="1"/>
          <p:nvPr/>
        </p:nvSpPr>
        <p:spPr bwMode="auto">
          <a:xfrm>
            <a:off x="731520" y="56235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2563EB"/>
                </a:solidFill>
                <a:latin typeface="Calibri"/>
              </a:rPr>
              <a:t>Plain words:  </a:t>
            </a:r>
            <a:r>
              <a:rPr sz="1200" b="0">
                <a:solidFill>
                  <a:srgbClr val="475569"/>
                </a:solidFill>
                <a:latin typeface="Calibri"/>
              </a:rPr>
              <a:t>a qubit in a definite 0 becomes a fair coin — equal parts 0 and 1. That's superposition.</a:t>
            </a:r>
            <a:endParaRPr/>
          </a:p>
        </p:txBody>
      </p:sp>
      <p:sp>
        <p:nvSpPr>
          <p:cNvPr id="1586558217" name="Rectangle 3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5751866" name="TextBox 34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1186803490" name="TextBox 35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50" b="0" i="0">
                <a:solidFill>
                  <a:srgbClr val="6B7A93"/>
                </a:solidFill>
                <a:latin typeface="Consolas"/>
              </a:rPr>
              <a:t>13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838778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6853571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B2777"/>
                </a:solidFill>
                <a:latin typeface="Consolas"/>
              </a:rPr>
              <a:t>GATES 02 · ENTANGLEMENT</a:t>
            </a:r>
            <a:endParaRPr/>
          </a:p>
        </p:txBody>
      </p:sp>
      <p:sp>
        <p:nvSpPr>
          <p:cNvPr id="1273933782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0F182B"/>
                </a:solidFill>
                <a:latin typeface="Calibri"/>
              </a:rPr>
              <a:t>CNOT: two qubits stop being independent</a:t>
            </a:r>
            <a:endParaRPr/>
          </a:p>
        </p:txBody>
      </p:sp>
      <p:sp>
        <p:nvSpPr>
          <p:cNvPr id="98861462" name="Rounded Rectangle 4"/>
          <p:cNvSpPr/>
          <p:nvPr/>
        </p:nvSpPr>
        <p:spPr bwMode="auto">
          <a:xfrm>
            <a:off x="502920" y="1783080"/>
            <a:ext cx="1118311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1845971" name="Oval 5"/>
          <p:cNvSpPr/>
          <p:nvPr/>
        </p:nvSpPr>
        <p:spPr bwMode="auto">
          <a:xfrm>
            <a:off x="1188720" y="2029967"/>
            <a:ext cx="109728" cy="109728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0842537" name="TextBox 6"/>
          <p:cNvSpPr txBox="1"/>
          <p:nvPr/>
        </p:nvSpPr>
        <p:spPr bwMode="auto">
          <a:xfrm>
            <a:off x="1371600" y="19202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0F182B"/>
                </a:solidFill>
                <a:latin typeface="Consolas"/>
              </a:rPr>
              <a:t>control = 1  →  FLIP target</a:t>
            </a:r>
            <a:endParaRPr/>
          </a:p>
        </p:txBody>
      </p:sp>
      <p:sp>
        <p:nvSpPr>
          <p:cNvPr id="1280354807" name="Oval 7"/>
          <p:cNvSpPr/>
          <p:nvPr/>
        </p:nvSpPr>
        <p:spPr bwMode="auto">
          <a:xfrm>
            <a:off x="5943600" y="2029967"/>
            <a:ext cx="109728" cy="109728"/>
          </a:xfrm>
          <a:prstGeom prst="ellipse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845361" name="TextBox 8"/>
          <p:cNvSpPr txBox="1"/>
          <p:nvPr/>
        </p:nvSpPr>
        <p:spPr bwMode="auto">
          <a:xfrm>
            <a:off x="6126480" y="19202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0F182B"/>
                </a:solidFill>
                <a:latin typeface="Consolas"/>
              </a:rPr>
              <a:t>control = 0  →  do nothing</a:t>
            </a:r>
            <a:endParaRPr/>
          </a:p>
        </p:txBody>
      </p:sp>
      <p:sp>
        <p:nvSpPr>
          <p:cNvPr id="1877410604" name="Rounded Rectangle 9"/>
          <p:cNvSpPr/>
          <p:nvPr/>
        </p:nvSpPr>
        <p:spPr bwMode="auto">
          <a:xfrm>
            <a:off x="502920" y="2514600"/>
            <a:ext cx="552297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7226059" name="Rectangle 10"/>
          <p:cNvSpPr/>
          <p:nvPr/>
        </p:nvSpPr>
        <p:spPr bwMode="auto">
          <a:xfrm>
            <a:off x="704088" y="270662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6635506" name="TextBox 11"/>
          <p:cNvSpPr txBox="1"/>
          <p:nvPr/>
        </p:nvSpPr>
        <p:spPr bwMode="auto">
          <a:xfrm>
            <a:off x="914400" y="2651760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7C3AED"/>
                </a:solidFill>
                <a:latin typeface="Consolas"/>
              </a:rPr>
              <a:t>THE RECIPE</a:t>
            </a:r>
            <a:endParaRPr/>
          </a:p>
        </p:txBody>
      </p:sp>
      <p:sp>
        <p:nvSpPr>
          <p:cNvPr id="1659949309" name="TextBox 12"/>
          <p:cNvSpPr txBox="1"/>
          <p:nvPr/>
        </p:nvSpPr>
        <p:spPr bwMode="auto">
          <a:xfrm>
            <a:off x="704088" y="2971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0F182B"/>
                </a:solidFill>
                <a:latin typeface="Cambria Math"/>
              </a:rPr>
              <a:t>H on q0   →   CNOT (q0 → q1)   →   Bell state</a:t>
            </a:r>
            <a:endParaRPr/>
          </a:p>
        </p:txBody>
      </p:sp>
      <p:sp>
        <p:nvSpPr>
          <p:cNvPr id="362004299" name="TextBox 13"/>
          <p:cNvSpPr txBox="1"/>
          <p:nvPr/>
        </p:nvSpPr>
        <p:spPr bwMode="auto">
          <a:xfrm>
            <a:off x="704088" y="3566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6B7A93"/>
                </a:solidFill>
                <a:latin typeface="Consolas"/>
              </a:rPr>
              <a:t>measured amplitudes:</a:t>
            </a:r>
            <a:endParaRPr/>
          </a:p>
        </p:txBody>
      </p:sp>
      <p:sp>
        <p:nvSpPr>
          <p:cNvPr id="1322704292" name="TextBox 14"/>
          <p:cNvSpPr txBox="1"/>
          <p:nvPr/>
        </p:nvSpPr>
        <p:spPr bwMode="auto">
          <a:xfrm>
            <a:off x="704088" y="384048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2200" b="1" i="0">
                <a:solidFill>
                  <a:srgbClr val="7C3AED"/>
                </a:solidFill>
                <a:latin typeface="Cambria Math"/>
              </a:rPr>
              <a:t>( 0.707,  0,  0,  0.707 )</a:t>
            </a:r>
            <a:endParaRPr/>
          </a:p>
        </p:txBody>
      </p:sp>
      <p:sp>
        <p:nvSpPr>
          <p:cNvPr id="1966498308" name="Rounded Rectangle 15"/>
          <p:cNvSpPr/>
          <p:nvPr/>
        </p:nvSpPr>
        <p:spPr bwMode="auto">
          <a:xfrm>
            <a:off x="6172200" y="2514600"/>
            <a:ext cx="552297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8435339" name="Rectangle 16"/>
          <p:cNvSpPr/>
          <p:nvPr/>
        </p:nvSpPr>
        <p:spPr bwMode="auto">
          <a:xfrm>
            <a:off x="6373368" y="270662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8388084" name="TextBox 17"/>
          <p:cNvSpPr txBox="1"/>
          <p:nvPr/>
        </p:nvSpPr>
        <p:spPr bwMode="auto">
          <a:xfrm>
            <a:off x="6583680" y="2651760"/>
            <a:ext cx="49286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2563EB"/>
                </a:solidFill>
                <a:latin typeface="Consolas"/>
              </a:rPr>
              <a:t>WHAT THOSE NUMBERS MEAN</a:t>
            </a:r>
            <a:endParaRPr/>
          </a:p>
        </p:txBody>
      </p:sp>
      <p:sp>
        <p:nvSpPr>
          <p:cNvPr id="1460426617" name="Rectangle 18"/>
          <p:cNvSpPr/>
          <p:nvPr/>
        </p:nvSpPr>
        <p:spPr bwMode="auto">
          <a:xfrm>
            <a:off x="6583680" y="4206240"/>
            <a:ext cx="470001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4101659" name="Rounded Rectangle 19"/>
          <p:cNvSpPr/>
          <p:nvPr/>
        </p:nvSpPr>
        <p:spPr bwMode="auto">
          <a:xfrm>
            <a:off x="7310628" y="3200399"/>
            <a:ext cx="502920" cy="1005840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 w="63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748159" name="TextBox 20"/>
          <p:cNvSpPr txBox="1"/>
          <p:nvPr/>
        </p:nvSpPr>
        <p:spPr bwMode="auto">
          <a:xfrm>
            <a:off x="7219187" y="2999231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00" b="1" i="0">
                <a:solidFill>
                  <a:srgbClr val="2563EB"/>
                </a:solidFill>
                <a:latin typeface="Consolas"/>
              </a:rPr>
              <a:t>50%</a:t>
            </a:r>
            <a:endParaRPr/>
          </a:p>
        </p:txBody>
      </p:sp>
      <p:sp>
        <p:nvSpPr>
          <p:cNvPr id="1760887645" name="TextBox 21"/>
          <p:cNvSpPr txBox="1"/>
          <p:nvPr/>
        </p:nvSpPr>
        <p:spPr bwMode="auto">
          <a:xfrm>
            <a:off x="7219187" y="424281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0F182B"/>
                </a:solidFill>
                <a:latin typeface="Cambria Math"/>
              </a:rPr>
              <a:t>|00&gt;</a:t>
            </a:r>
            <a:endParaRPr/>
          </a:p>
        </p:txBody>
      </p:sp>
      <p:sp>
        <p:nvSpPr>
          <p:cNvPr id="1349168802" name="TextBox 22"/>
          <p:cNvSpPr txBox="1"/>
          <p:nvPr/>
        </p:nvSpPr>
        <p:spPr bwMode="auto">
          <a:xfrm>
            <a:off x="8133588" y="3959352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00" b="1" i="0">
                <a:solidFill>
                  <a:srgbClr val="6B7A93"/>
                </a:solidFill>
                <a:latin typeface="Consolas"/>
              </a:rPr>
              <a:t>0%</a:t>
            </a:r>
            <a:endParaRPr/>
          </a:p>
        </p:txBody>
      </p:sp>
      <p:sp>
        <p:nvSpPr>
          <p:cNvPr id="31135982" name="TextBox 23"/>
          <p:cNvSpPr txBox="1"/>
          <p:nvPr/>
        </p:nvSpPr>
        <p:spPr bwMode="auto">
          <a:xfrm>
            <a:off x="8133588" y="424281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0F182B"/>
                </a:solidFill>
                <a:latin typeface="Cambria Math"/>
              </a:rPr>
              <a:t>|01&gt;</a:t>
            </a:r>
            <a:endParaRPr/>
          </a:p>
        </p:txBody>
      </p:sp>
      <p:sp>
        <p:nvSpPr>
          <p:cNvPr id="1874391078" name="TextBox 24"/>
          <p:cNvSpPr txBox="1"/>
          <p:nvPr/>
        </p:nvSpPr>
        <p:spPr bwMode="auto">
          <a:xfrm>
            <a:off x="9047988" y="3959352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00" b="1" i="0">
                <a:solidFill>
                  <a:srgbClr val="6B7A93"/>
                </a:solidFill>
                <a:latin typeface="Consolas"/>
              </a:rPr>
              <a:t>0%</a:t>
            </a:r>
            <a:endParaRPr/>
          </a:p>
        </p:txBody>
      </p:sp>
      <p:sp>
        <p:nvSpPr>
          <p:cNvPr id="194693521" name="TextBox 25"/>
          <p:cNvSpPr txBox="1"/>
          <p:nvPr/>
        </p:nvSpPr>
        <p:spPr bwMode="auto">
          <a:xfrm>
            <a:off x="9047988" y="424281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0F182B"/>
                </a:solidFill>
                <a:latin typeface="Cambria Math"/>
              </a:rPr>
              <a:t>|10&gt;</a:t>
            </a:r>
            <a:endParaRPr/>
          </a:p>
        </p:txBody>
      </p:sp>
      <p:sp>
        <p:nvSpPr>
          <p:cNvPr id="74100669" name="Rounded Rectangle 26"/>
          <p:cNvSpPr/>
          <p:nvPr/>
        </p:nvSpPr>
        <p:spPr bwMode="auto">
          <a:xfrm>
            <a:off x="10053828" y="3200399"/>
            <a:ext cx="502920" cy="1005840"/>
          </a:xfrm>
          <a:prstGeom prst="roundRect">
            <a:avLst>
              <a:gd name="adj" fmla="val 8000"/>
            </a:avLst>
          </a:prstGeom>
          <a:solidFill>
            <a:srgbClr val="F47FB1"/>
          </a:solidFill>
          <a:ln w="6350">
            <a:solidFill>
              <a:srgbClr val="F47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6143150" name="TextBox 27"/>
          <p:cNvSpPr txBox="1"/>
          <p:nvPr/>
        </p:nvSpPr>
        <p:spPr bwMode="auto">
          <a:xfrm>
            <a:off x="9962388" y="2999231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00" b="1" i="0">
                <a:solidFill>
                  <a:srgbClr val="DB2777"/>
                </a:solidFill>
                <a:latin typeface="Consolas"/>
              </a:rPr>
              <a:t>50%</a:t>
            </a:r>
            <a:endParaRPr/>
          </a:p>
        </p:txBody>
      </p:sp>
      <p:sp>
        <p:nvSpPr>
          <p:cNvPr id="1206911555" name="TextBox 28"/>
          <p:cNvSpPr txBox="1"/>
          <p:nvPr/>
        </p:nvSpPr>
        <p:spPr bwMode="auto">
          <a:xfrm>
            <a:off x="9962388" y="424281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0F182B"/>
                </a:solidFill>
                <a:latin typeface="Cambria Math"/>
              </a:rPr>
              <a:t>|11&gt;</a:t>
            </a:r>
            <a:endParaRPr/>
          </a:p>
        </p:txBody>
      </p:sp>
      <p:sp>
        <p:nvSpPr>
          <p:cNvPr id="338081898" name="TextBox 29"/>
          <p:cNvSpPr txBox="1"/>
          <p:nvPr/>
        </p:nvSpPr>
        <p:spPr bwMode="auto">
          <a:xfrm>
            <a:off x="6373368" y="450799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50" b="0" i="0">
                <a:solidFill>
                  <a:srgbClr val="475569"/>
                </a:solidFill>
                <a:latin typeface="Calibri"/>
              </a:rPr>
              <a:t>50% |00&gt;  ·  50% |11&gt;  ·  0% mixed  —  perfectly correlated qubits</a:t>
            </a:r>
            <a:endParaRPr/>
          </a:p>
        </p:txBody>
      </p:sp>
      <p:sp>
        <p:nvSpPr>
          <p:cNvPr id="462577450" name="Rounded Rectangle 30"/>
          <p:cNvSpPr/>
          <p:nvPr/>
        </p:nvSpPr>
        <p:spPr bwMode="auto">
          <a:xfrm>
            <a:off x="502920" y="4663440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8984705" name="Rectangle 31"/>
          <p:cNvSpPr/>
          <p:nvPr/>
        </p:nvSpPr>
        <p:spPr bwMode="auto">
          <a:xfrm>
            <a:off x="704088" y="4855464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5975246" name="TextBox 32"/>
          <p:cNvSpPr txBox="1"/>
          <p:nvPr/>
        </p:nvSpPr>
        <p:spPr bwMode="auto">
          <a:xfrm>
            <a:off x="914400" y="4800600"/>
            <a:ext cx="105887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159E4A"/>
                </a:solidFill>
                <a:latin typeface="Consolas"/>
              </a:rPr>
              <a:t>A DETAIL WE PROVED</a:t>
            </a:r>
            <a:endParaRPr/>
          </a:p>
        </p:txBody>
      </p:sp>
      <p:sp>
        <p:nvSpPr>
          <p:cNvPr id="180159589" name="TextBox 33"/>
          <p:cNvSpPr txBox="1"/>
          <p:nvPr/>
        </p:nvSpPr>
        <p:spPr bwMode="auto">
          <a:xfrm>
            <a:off x="731520" y="4937759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475569"/>
                </a:solidFill>
                <a:latin typeface="Calibri"/>
              </a:rPr>
              <a:t>In our kernel CNOT isn't even a multiplication — it's pure </a:t>
            </a:r>
            <a:r>
              <a:rPr sz="1100" b="1">
                <a:solidFill>
                  <a:srgbClr val="159E4A"/>
                </a:solidFill>
                <a:latin typeface="Calibri"/>
              </a:rPr>
              <a:t>amplitude swapping.</a:t>
            </a:r>
            <a:r>
              <a:rPr sz="1100" b="0">
                <a:solidFill>
                  <a:srgbClr val="475569"/>
                </a:solidFill>
                <a:latin typeface="Calibri"/>
              </a:rPr>
              <a:t>  Zero floating-point ops. Verified against the textbook method: identical to 10⁻¹².</a:t>
            </a:r>
            <a:endParaRPr/>
          </a:p>
        </p:txBody>
      </p:sp>
      <p:sp>
        <p:nvSpPr>
          <p:cNvPr id="888232641" name="Rounded Rectangle 34"/>
          <p:cNvSpPr/>
          <p:nvPr/>
        </p:nvSpPr>
        <p:spPr bwMode="auto">
          <a:xfrm>
            <a:off x="502920" y="562356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EFF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9637054" name="TextBox 35"/>
          <p:cNvSpPr txBox="1"/>
          <p:nvPr/>
        </p:nvSpPr>
        <p:spPr bwMode="auto">
          <a:xfrm>
            <a:off x="731520" y="56235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2563EB"/>
                </a:solidFill>
                <a:latin typeface="Calibri"/>
              </a:rPr>
              <a:t>Two gates — and already the state can't be reasoned about in your head. </a:t>
            </a:r>
            <a:r>
              <a:rPr sz="1250" b="1">
                <a:solidFill>
                  <a:srgbClr val="DB2777"/>
                </a:solidFill>
                <a:latin typeface="Calibri"/>
              </a:rPr>
              <a:t>Now imagine 10 qubits.</a:t>
            </a:r>
            <a:endParaRPr/>
          </a:p>
        </p:txBody>
      </p:sp>
      <p:sp>
        <p:nvSpPr>
          <p:cNvPr id="443448117" name="Rectangle 36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7941475" name="TextBox 37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863633160" name="TextBox 38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50" b="0" i="0">
                <a:solidFill>
                  <a:srgbClr val="6B7A93"/>
                </a:solidFill>
                <a:latin typeface="Consolas"/>
              </a:rPr>
              <a:t>14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06502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6463031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97706"/>
                </a:solidFill>
                <a:latin typeface="Consolas"/>
              </a:rPr>
              <a:t>THE GAP</a:t>
            </a:r>
            <a:endParaRPr/>
          </a:p>
        </p:txBody>
      </p:sp>
      <p:sp>
        <p:nvSpPr>
          <p:cNvPr id="39598482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0F182B"/>
                </a:solidFill>
                <a:latin typeface="Calibri"/>
              </a:rPr>
              <a:t>Correct math, zero intuition</a:t>
            </a:r>
            <a:endParaRPr/>
          </a:p>
        </p:txBody>
      </p:sp>
      <p:sp>
        <p:nvSpPr>
          <p:cNvPr id="1206806452" name="Rounded Rectangle 4"/>
          <p:cNvSpPr/>
          <p:nvPr/>
        </p:nvSpPr>
        <p:spPr bwMode="auto">
          <a:xfrm>
            <a:off x="502920" y="1783080"/>
            <a:ext cx="4937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0921073" name="Rectangle 5"/>
          <p:cNvSpPr/>
          <p:nvPr/>
        </p:nvSpPr>
        <p:spPr bwMode="auto">
          <a:xfrm>
            <a:off x="704088" y="1975104"/>
            <a:ext cx="13716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045840" name="TextBox 6"/>
          <p:cNvSpPr txBox="1"/>
          <p:nvPr/>
        </p:nvSpPr>
        <p:spPr bwMode="auto">
          <a:xfrm>
            <a:off x="914400" y="192024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D97706"/>
                </a:solidFill>
                <a:latin typeface="Consolas"/>
              </a:rPr>
              <a:t>WHAT OUR SIMULATOR SHOWS</a:t>
            </a:r>
            <a:endParaRPr/>
          </a:p>
        </p:txBody>
      </p:sp>
      <p:sp>
        <p:nvSpPr>
          <p:cNvPr id="1800075750" name="Rounded Rectangle 7"/>
          <p:cNvSpPr/>
          <p:nvPr/>
        </p:nvSpPr>
        <p:spPr bwMode="auto">
          <a:xfrm>
            <a:off x="777240" y="2331720"/>
            <a:ext cx="438912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4962556" name="TextBox 8"/>
          <p:cNvSpPr txBox="1"/>
          <p:nvPr/>
        </p:nvSpPr>
        <p:spPr bwMode="auto">
          <a:xfrm>
            <a:off x="1051560" y="2560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0F182B"/>
                </a:solidFill>
                <a:latin typeface="Consolas"/>
              </a:rPr>
              <a:t>|00&gt;</a:t>
            </a:r>
            <a:endParaRPr/>
          </a:p>
        </p:txBody>
      </p:sp>
      <p:sp>
        <p:nvSpPr>
          <p:cNvPr id="1099863778" name="TextBox 9"/>
          <p:cNvSpPr txBox="1"/>
          <p:nvPr/>
        </p:nvSpPr>
        <p:spPr bwMode="auto">
          <a:xfrm>
            <a:off x="2148840" y="2560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475569"/>
                </a:solidFill>
                <a:latin typeface="Consolas"/>
              </a:rPr>
              <a:t> :  0.7071</a:t>
            </a:r>
            <a:endParaRPr/>
          </a:p>
        </p:txBody>
      </p:sp>
      <p:sp>
        <p:nvSpPr>
          <p:cNvPr id="160962154" name="TextBox 10"/>
          <p:cNvSpPr txBox="1"/>
          <p:nvPr/>
        </p:nvSpPr>
        <p:spPr bwMode="auto">
          <a:xfrm>
            <a:off x="1051560" y="2971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0F182B"/>
                </a:solidFill>
                <a:latin typeface="Consolas"/>
              </a:rPr>
              <a:t>|01&gt;</a:t>
            </a:r>
            <a:endParaRPr/>
          </a:p>
        </p:txBody>
      </p:sp>
      <p:sp>
        <p:nvSpPr>
          <p:cNvPr id="600885774" name="TextBox 11"/>
          <p:cNvSpPr txBox="1"/>
          <p:nvPr/>
        </p:nvSpPr>
        <p:spPr bwMode="auto">
          <a:xfrm>
            <a:off x="2148840" y="2971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475569"/>
                </a:solidFill>
                <a:latin typeface="Consolas"/>
              </a:rPr>
              <a:t> :  0.0000</a:t>
            </a:r>
            <a:endParaRPr/>
          </a:p>
        </p:txBody>
      </p:sp>
      <p:sp>
        <p:nvSpPr>
          <p:cNvPr id="1886929687" name="TextBox 12"/>
          <p:cNvSpPr txBox="1"/>
          <p:nvPr/>
        </p:nvSpPr>
        <p:spPr bwMode="auto">
          <a:xfrm>
            <a:off x="1051560" y="3383279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0F182B"/>
                </a:solidFill>
                <a:latin typeface="Consolas"/>
              </a:rPr>
              <a:t>|10&gt;</a:t>
            </a:r>
            <a:endParaRPr/>
          </a:p>
        </p:txBody>
      </p:sp>
      <p:sp>
        <p:nvSpPr>
          <p:cNvPr id="2068782332" name="TextBox 13"/>
          <p:cNvSpPr txBox="1"/>
          <p:nvPr/>
        </p:nvSpPr>
        <p:spPr bwMode="auto">
          <a:xfrm>
            <a:off x="2148840" y="338327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475569"/>
                </a:solidFill>
                <a:latin typeface="Consolas"/>
              </a:rPr>
              <a:t> :  0.0000</a:t>
            </a:r>
            <a:endParaRPr/>
          </a:p>
        </p:txBody>
      </p:sp>
      <p:sp>
        <p:nvSpPr>
          <p:cNvPr id="824219389" name="TextBox 14"/>
          <p:cNvSpPr txBox="1"/>
          <p:nvPr/>
        </p:nvSpPr>
        <p:spPr bwMode="auto">
          <a:xfrm>
            <a:off x="1051560" y="37947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0F182B"/>
                </a:solidFill>
                <a:latin typeface="Consolas"/>
              </a:rPr>
              <a:t>|11&gt;</a:t>
            </a:r>
            <a:endParaRPr/>
          </a:p>
        </p:txBody>
      </p:sp>
      <p:sp>
        <p:nvSpPr>
          <p:cNvPr id="1173720541" name="TextBox 15"/>
          <p:cNvSpPr txBox="1"/>
          <p:nvPr/>
        </p:nvSpPr>
        <p:spPr bwMode="auto">
          <a:xfrm>
            <a:off x="2148840" y="3794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475569"/>
                </a:solidFill>
                <a:latin typeface="Consolas"/>
              </a:rPr>
              <a:t> :  0.7071</a:t>
            </a:r>
            <a:endParaRPr/>
          </a:p>
        </p:txBody>
      </p:sp>
      <p:sp>
        <p:nvSpPr>
          <p:cNvPr id="1268406179" name="Rounded Rectangle 16"/>
          <p:cNvSpPr/>
          <p:nvPr/>
        </p:nvSpPr>
        <p:spPr bwMode="auto">
          <a:xfrm>
            <a:off x="6766560" y="1783080"/>
            <a:ext cx="4937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8070475" name="Rectangle 17"/>
          <p:cNvSpPr/>
          <p:nvPr/>
        </p:nvSpPr>
        <p:spPr bwMode="auto">
          <a:xfrm>
            <a:off x="6967728" y="1975104"/>
            <a:ext cx="13716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5758013" name="TextBox 18"/>
          <p:cNvSpPr txBox="1"/>
          <p:nvPr/>
        </p:nvSpPr>
        <p:spPr bwMode="auto">
          <a:xfrm>
            <a:off x="7178039" y="192024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D97706"/>
                </a:solidFill>
                <a:latin typeface="Consolas"/>
              </a:rPr>
              <a:t>WHAT A STUDENT NEEDS</a:t>
            </a:r>
            <a:endParaRPr/>
          </a:p>
        </p:txBody>
      </p:sp>
      <p:sp>
        <p:nvSpPr>
          <p:cNvPr id="1339845129" name="TextBox 19"/>
          <p:cNvSpPr txBox="1"/>
          <p:nvPr/>
        </p:nvSpPr>
        <p:spPr bwMode="auto">
          <a:xfrm>
            <a:off x="7059168" y="2560320"/>
            <a:ext cx="4352544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/>
            </a:pPr>
            <a:r>
              <a:rPr sz="1400" b="0" i="1">
                <a:solidFill>
                  <a:srgbClr val="0F182B"/>
                </a:solidFill>
                <a:latin typeface="Calibri"/>
              </a:rPr>
              <a:t>"q0 and q1 are perfectly correlated — always identical. CNOT copied the superposition into a joint state. That's entanglement, and you can't see it in the numbers."</a:t>
            </a:r>
            <a:endParaRPr/>
          </a:p>
        </p:txBody>
      </p:sp>
      <p:sp>
        <p:nvSpPr>
          <p:cNvPr id="1595778153" name="Right Arrow 20"/>
          <p:cNvSpPr/>
          <p:nvPr/>
        </p:nvSpPr>
        <p:spPr bwMode="auto">
          <a:xfrm>
            <a:off x="5692140" y="3383279"/>
            <a:ext cx="82296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5161873" name="TextBox 21"/>
          <p:cNvSpPr txBox="1"/>
          <p:nvPr/>
        </p:nvSpPr>
        <p:spPr bwMode="auto">
          <a:xfrm>
            <a:off x="5692140" y="33375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2200" b="1" i="0">
                <a:solidFill>
                  <a:srgbClr val="D97706"/>
                </a:solidFill>
                <a:latin typeface="Cambria Math"/>
              </a:rPr>
              <a:t>?</a:t>
            </a:r>
            <a:endParaRPr/>
          </a:p>
        </p:txBody>
      </p:sp>
      <p:sp>
        <p:nvSpPr>
          <p:cNvPr id="732019943" name="Rounded Rectangle 22"/>
          <p:cNvSpPr/>
          <p:nvPr/>
        </p:nvSpPr>
        <p:spPr bwMode="auto">
          <a:xfrm>
            <a:off x="502920" y="5532120"/>
            <a:ext cx="11183112" cy="6400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EFF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1774703" name="TextBox 23"/>
          <p:cNvSpPr txBox="1"/>
          <p:nvPr/>
        </p:nvSpPr>
        <p:spPr bwMode="auto">
          <a:xfrm>
            <a:off x="731520" y="553212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D97706"/>
                </a:solidFill>
                <a:latin typeface="Calibri"/>
              </a:rPr>
              <a:t>The numbers are right — the understanding is missing. </a:t>
            </a:r>
            <a:r>
              <a:rPr sz="1200" b="0">
                <a:solidFill>
                  <a:srgbClr val="475569"/>
                </a:solidFill>
                <a:latin typeface="Calibri"/>
              </a:rPr>
              <a:t>And it never scales: 10 qubits = 1,024 amplitudes · 20 qubits = over a million. </a:t>
            </a:r>
            <a:r>
              <a:rPr sz="1200" b="1">
                <a:solidFill>
                  <a:srgbClr val="2563EB"/>
                </a:solidFill>
                <a:latin typeface="Calibri"/>
              </a:rPr>
              <a:t>→ That's where the AI module comes in.</a:t>
            </a:r>
            <a:endParaRPr/>
          </a:p>
        </p:txBody>
      </p:sp>
      <p:sp>
        <p:nvSpPr>
          <p:cNvPr id="2011560383" name="Rectangle 24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390628" name="TextBox 25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1842593158" name="TextBox 26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50" b="0" i="0">
                <a:solidFill>
                  <a:srgbClr val="6B7A93"/>
                </a:solidFill>
                <a:latin typeface="Consolas"/>
              </a:rPr>
              <a:t>15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588682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9690487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563EB"/>
                </a:solidFill>
                <a:latin typeface="Consolas"/>
              </a:rPr>
              <a:t>AI 01 · LOCAL INFRASTRUCTURE</a:t>
            </a:r>
            <a:endParaRPr/>
          </a:p>
        </p:txBody>
      </p:sp>
      <p:sp>
        <p:nvSpPr>
          <p:cNvPr id="1751198917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0F182B"/>
                </a:solidFill>
                <a:latin typeface="Calibri"/>
              </a:rPr>
              <a:t>A pretrained model, on our own laptop</a:t>
            </a:r>
            <a:endParaRPr/>
          </a:p>
        </p:txBody>
      </p:sp>
      <p:sp>
        <p:nvSpPr>
          <p:cNvPr id="1554707051" name="TextBox 4"/>
          <p:cNvSpPr txBox="1"/>
          <p:nvPr/>
        </p:nvSpPr>
        <p:spPr bwMode="auto">
          <a:xfrm>
            <a:off x="502920" y="17830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50" b="0">
                <a:solidFill>
                  <a:srgbClr val="475569"/>
                </a:solidFill>
                <a:latin typeface="Calibri"/>
              </a:rPr>
              <a:t>We don't build a brain — we </a:t>
            </a:r>
            <a:r>
              <a:rPr sz="1250" b="1">
                <a:solidFill>
                  <a:srgbClr val="2563EB"/>
                </a:solidFill>
                <a:latin typeface="Calibri"/>
              </a:rPr>
              <a:t>download an already-trained, open-license model file</a:t>
            </a:r>
            <a:r>
              <a:rPr sz="1250" b="0">
                <a:solidFill>
                  <a:srgbClr val="475569"/>
                </a:solidFill>
                <a:latin typeface="Calibri"/>
              </a:rPr>
              <a:t> and run it on our own hardware. Nothing leaves our machine.</a:t>
            </a:r>
            <a:endParaRPr/>
          </a:p>
        </p:txBody>
      </p:sp>
      <p:sp>
        <p:nvSpPr>
          <p:cNvPr id="518599793" name="Rounded Rectangle 5"/>
          <p:cNvSpPr/>
          <p:nvPr/>
        </p:nvSpPr>
        <p:spPr bwMode="auto">
          <a:xfrm>
            <a:off x="562356" y="2331720"/>
            <a:ext cx="301751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1053493" name="TextBox 6"/>
          <p:cNvSpPr txBox="1"/>
          <p:nvPr/>
        </p:nvSpPr>
        <p:spPr bwMode="auto">
          <a:xfrm>
            <a:off x="699516" y="233172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0F182B"/>
                </a:solidFill>
                <a:latin typeface="Calibri"/>
              </a:rPr>
              <a:t>SimQC frontend</a:t>
            </a:r>
            <a:endParaRPr/>
          </a:p>
        </p:txBody>
      </p:sp>
      <p:sp>
        <p:nvSpPr>
          <p:cNvPr id="164198278" name="Right Arrow 7"/>
          <p:cNvSpPr/>
          <p:nvPr/>
        </p:nvSpPr>
        <p:spPr bwMode="auto">
          <a:xfrm>
            <a:off x="3625596" y="2670047"/>
            <a:ext cx="91440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5540635" name="TextBox 8"/>
          <p:cNvSpPr txBox="1"/>
          <p:nvPr/>
        </p:nvSpPr>
        <p:spPr bwMode="auto">
          <a:xfrm>
            <a:off x="3579876" y="2414015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00" b="0" i="0">
                <a:solidFill>
                  <a:srgbClr val="6B7A93"/>
                </a:solidFill>
                <a:latin typeface="Consolas"/>
              </a:rPr>
              <a:t>fetch localhost:11434</a:t>
            </a:r>
            <a:endParaRPr/>
          </a:p>
        </p:txBody>
      </p:sp>
      <p:sp>
        <p:nvSpPr>
          <p:cNvPr id="1937397242" name="Rounded Rectangle 9"/>
          <p:cNvSpPr/>
          <p:nvPr/>
        </p:nvSpPr>
        <p:spPr bwMode="auto">
          <a:xfrm>
            <a:off x="4585716" y="2331720"/>
            <a:ext cx="3017519" cy="1005840"/>
          </a:xfrm>
          <a:prstGeom prst="roundRect">
            <a:avLst>
              <a:gd name="adj" fmla="val 6000"/>
            </a:avLst>
          </a:prstGeom>
          <a:solidFill>
            <a:srgbClr val="DCE6FB"/>
          </a:solidFill>
          <a:ln w="9525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9515160" name="TextBox 10"/>
          <p:cNvSpPr txBox="1"/>
          <p:nvPr/>
        </p:nvSpPr>
        <p:spPr bwMode="auto">
          <a:xfrm>
            <a:off x="4722876" y="233172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2563EB"/>
                </a:solidFill>
                <a:latin typeface="Calibri"/>
              </a:rPr>
              <a:t>Ollama — the player</a:t>
            </a:r>
            <a:endParaRPr/>
          </a:p>
        </p:txBody>
      </p:sp>
      <p:sp>
        <p:nvSpPr>
          <p:cNvPr id="2016547863" name="Right Arrow 11"/>
          <p:cNvSpPr/>
          <p:nvPr/>
        </p:nvSpPr>
        <p:spPr bwMode="auto">
          <a:xfrm>
            <a:off x="7648956" y="2670047"/>
            <a:ext cx="91440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4195733" name="TextBox 12"/>
          <p:cNvSpPr txBox="1"/>
          <p:nvPr/>
        </p:nvSpPr>
        <p:spPr bwMode="auto">
          <a:xfrm>
            <a:off x="7603236" y="2414015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00" b="0" i="0">
                <a:solidFill>
                  <a:srgbClr val="6B7A93"/>
                </a:solidFill>
                <a:latin typeface="Consolas"/>
              </a:rPr>
              <a:t>loads</a:t>
            </a:r>
            <a:endParaRPr/>
          </a:p>
        </p:txBody>
      </p:sp>
      <p:sp>
        <p:nvSpPr>
          <p:cNvPr id="1497457003" name="Rounded Rectangle 13"/>
          <p:cNvSpPr/>
          <p:nvPr/>
        </p:nvSpPr>
        <p:spPr bwMode="auto">
          <a:xfrm>
            <a:off x="8609076" y="2331720"/>
            <a:ext cx="3017519" cy="1005840"/>
          </a:xfrm>
          <a:prstGeom prst="roundRect">
            <a:avLst>
              <a:gd name="adj" fmla="val 6000"/>
            </a:avLst>
          </a:prstGeom>
          <a:solidFill>
            <a:srgbClr val="EADFFC"/>
          </a:solidFill>
          <a:ln w="9525">
            <a:solidFill>
              <a:srgbClr val="EAD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3052771" name="TextBox 14"/>
          <p:cNvSpPr txBox="1"/>
          <p:nvPr/>
        </p:nvSpPr>
        <p:spPr bwMode="auto">
          <a:xfrm>
            <a:off x="8746236" y="233172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7C3AED"/>
                </a:solidFill>
                <a:latin typeface="Calibri"/>
              </a:rPr>
              <a:t>GGUF model file — the MP3</a:t>
            </a:r>
            <a:endParaRPr/>
          </a:p>
        </p:txBody>
      </p:sp>
      <p:sp>
        <p:nvSpPr>
          <p:cNvPr id="1557031015" name="TextBox 15"/>
          <p:cNvSpPr txBox="1"/>
          <p:nvPr/>
        </p:nvSpPr>
        <p:spPr bwMode="auto">
          <a:xfrm>
            <a:off x="502920" y="344728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6B7A93"/>
                </a:solidFill>
                <a:latin typeface="Consolas"/>
              </a:rPr>
              <a:t>llama.cpp = the hidden engine inside Ollama  ·  quantization: 15 GB → 4.7 GB, MP3-style</a:t>
            </a:r>
            <a:endParaRPr/>
          </a:p>
        </p:txBody>
      </p:sp>
      <p:graphicFrame>
        <p:nvGraphicFramePr>
          <p:cNvPr id="508012386" name="Table 16"/>
          <p:cNvGraphicFramePr>
            <a:graphicFrameLocks xmlns:a="http://schemas.openxmlformats.org/drawingml/2006/main" noGrp="1"/>
          </p:cNvGraphicFramePr>
          <p:nvPr/>
        </p:nvGraphicFramePr>
        <p:xfrm rot="0">
          <a:off x="502920" y="3886200"/>
          <a:ext cx="11183112" cy="1536192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1371600"/>
                <a:gridCol w="1645920"/>
                <a:gridCol w="3657600"/>
                <a:gridCol w="1783080"/>
                <a:gridCol w="2724911"/>
              </a:tblGrid>
              <a:tr h="38404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50" b="1">
                          <a:solidFill>
                            <a:srgbClr val="6B7A93"/>
                          </a:solidFill>
                          <a:latin typeface="Consolas"/>
                        </a:rPr>
                        <a:t>Model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50" b="1">
                          <a:solidFill>
                            <a:srgbClr val="6B7A93"/>
                          </a:solidFill>
                          <a:latin typeface="Consolas"/>
                        </a:rPr>
                        <a:t>File size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50" b="1">
                          <a:solidFill>
                            <a:srgbClr val="6B7A93"/>
                          </a:solidFill>
                          <a:latin typeface="Consolas"/>
                        </a:rPr>
                        <a:t>Where it runs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50" b="1">
                          <a:solidFill>
                            <a:srgbClr val="6B7A93"/>
                          </a:solidFill>
                          <a:latin typeface="Consolas"/>
                        </a:rPr>
                        <a:t>Speed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50" b="1">
                          <a:solidFill>
                            <a:srgbClr val="6B7A93"/>
                          </a:solidFill>
                          <a:latin typeface="Consolas"/>
                        </a:rPr>
                        <a:t>Our role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2563EB"/>
                          </a:solidFill>
                          <a:latin typeface="Consolas"/>
                        </a:rPr>
                        <a:t>3B</a:t>
                      </a:r>
                      <a:endParaRPr/>
                    </a:p>
                  </a:txBody>
                  <a:tcPr>
                    <a:solidFill>
                      <a:srgbClr val="DCE6FB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0">
                          <a:solidFill>
                            <a:srgbClr val="475569"/>
                          </a:solidFill>
                          <a:latin typeface="Consolas"/>
                        </a:rPr>
                        <a:t>1.9 GB</a:t>
                      </a:r>
                      <a:endParaRPr/>
                    </a:p>
                  </a:txBody>
                  <a:tcPr>
                    <a:solidFill>
                      <a:srgbClr val="DCE6FB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159E4A"/>
                          </a:solidFill>
                          <a:latin typeface="Calibri"/>
                        </a:rPr>
                        <a:t>100% GPU (4 GB VRAM)</a:t>
                      </a:r>
                      <a:endParaRPr/>
                    </a:p>
                  </a:txBody>
                  <a:tcPr>
                    <a:solidFill>
                      <a:srgbClr val="DCE6FB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0">
                          <a:solidFill>
                            <a:srgbClr val="475569"/>
                          </a:solidFill>
                          <a:latin typeface="Consolas"/>
                        </a:rPr>
                        <a:t>~40 tok/s</a:t>
                      </a:r>
                      <a:endParaRPr/>
                    </a:p>
                  </a:txBody>
                  <a:tcPr>
                    <a:solidFill>
                      <a:srgbClr val="DCE6FB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2563EB"/>
                          </a:solidFill>
                          <a:latin typeface="Calibri"/>
                        </a:rPr>
                        <a:t>Default</a:t>
                      </a:r>
                      <a:endParaRPr/>
                    </a:p>
                  </a:txBody>
                  <a:tcPr>
                    <a:solidFill>
                      <a:srgbClr val="DCE6FB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0F182B"/>
                          </a:solidFill>
                          <a:latin typeface="Consolas"/>
                        </a:rPr>
                        <a:t>7B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0">
                          <a:solidFill>
                            <a:srgbClr val="475569"/>
                          </a:solidFill>
                          <a:latin typeface="Consolas"/>
                        </a:rPr>
                        <a:t>4.7 GB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475569"/>
                          </a:solidFill>
                          <a:latin typeface="Calibri"/>
                        </a:rPr>
                        <a:t>split GPU + RAM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0">
                          <a:solidFill>
                            <a:srgbClr val="475569"/>
                          </a:solidFill>
                          <a:latin typeface="Consolas"/>
                        </a:rPr>
                        <a:t>12–20 tok/s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0F182B"/>
                          </a:solidFill>
                          <a:latin typeface="Calibri"/>
                        </a:rPr>
                        <a:t>Quality checks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0F182B"/>
                          </a:solidFill>
                          <a:latin typeface="Consolas"/>
                        </a:rPr>
                        <a:t>14B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0">
                          <a:solidFill>
                            <a:srgbClr val="475569"/>
                          </a:solidFill>
                          <a:latin typeface="Consolas"/>
                        </a:rPr>
                        <a:t>9 GB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475569"/>
                          </a:solidFill>
                          <a:latin typeface="Calibri"/>
                        </a:rPr>
                        <a:t>doesn't fit locally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0">
                          <a:solidFill>
                            <a:srgbClr val="475569"/>
                          </a:solidFill>
                          <a:latin typeface="Consolas"/>
                        </a:rPr>
                        <a:t>—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0F182B"/>
                          </a:solidFill>
                          <a:latin typeface="Calibri"/>
                        </a:rPr>
                        <a:t>Later: free Colab</a:t>
                      </a: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62642909" name="Rounded Rectangle 17"/>
          <p:cNvSpPr/>
          <p:nvPr/>
        </p:nvSpPr>
        <p:spPr bwMode="auto">
          <a:xfrm>
            <a:off x="502920" y="5532120"/>
            <a:ext cx="3657600" cy="274320"/>
          </a:xfrm>
          <a:prstGeom prst="roundRect">
            <a:avLst>
              <a:gd name="adj" fmla="val 50000"/>
            </a:avLst>
          </a:prstGeom>
          <a:solidFill>
            <a:srgbClr val="DCE6FB"/>
          </a:solidFill>
          <a:ln w="6350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9596744" name="TextBox 18"/>
          <p:cNvSpPr txBox="1"/>
          <p:nvPr/>
        </p:nvSpPr>
        <p:spPr bwMode="auto">
          <a:xfrm>
            <a:off x="539496" y="5550407"/>
            <a:ext cx="3584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2563EB"/>
                </a:solidFill>
                <a:latin typeface="Consolas"/>
              </a:rPr>
              <a:t>our GPU: RTX 3050 · 4 GB VRAM</a:t>
            </a:r>
            <a:endParaRPr/>
          </a:p>
        </p:txBody>
      </p:sp>
      <p:sp>
        <p:nvSpPr>
          <p:cNvPr id="7982690" name="Rounded Rectangle 19"/>
          <p:cNvSpPr/>
          <p:nvPr/>
        </p:nvSpPr>
        <p:spPr bwMode="auto">
          <a:xfrm>
            <a:off x="4251959" y="5532120"/>
            <a:ext cx="3657600" cy="274320"/>
          </a:xfrm>
          <a:prstGeom prst="roundRect">
            <a:avLst>
              <a:gd name="adj" fmla="val 50000"/>
            </a:avLst>
          </a:prstGeom>
          <a:solidFill>
            <a:srgbClr val="EADFFC"/>
          </a:solidFill>
          <a:ln w="6350">
            <a:solidFill>
              <a:srgbClr val="EAD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4361054" name="TextBox 20"/>
          <p:cNvSpPr txBox="1"/>
          <p:nvPr/>
        </p:nvSpPr>
        <p:spPr bwMode="auto">
          <a:xfrm>
            <a:off x="4288536" y="5550407"/>
            <a:ext cx="3584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7C3AED"/>
                </a:solidFill>
                <a:latin typeface="Consolas"/>
              </a:rPr>
              <a:t>our RAM: 16 GB</a:t>
            </a:r>
            <a:endParaRPr/>
          </a:p>
        </p:txBody>
      </p:sp>
      <p:sp>
        <p:nvSpPr>
          <p:cNvPr id="698843276" name="Rounded Rectangle 21"/>
          <p:cNvSpPr/>
          <p:nvPr/>
        </p:nvSpPr>
        <p:spPr bwMode="auto">
          <a:xfrm>
            <a:off x="8001000" y="5532120"/>
            <a:ext cx="3657600" cy="274320"/>
          </a:xfrm>
          <a:prstGeom prst="roundRect">
            <a:avLst>
              <a:gd name="adj" fmla="val 50000"/>
            </a:avLst>
          </a:prstGeom>
          <a:solidFill>
            <a:srgbClr val="D9EFE2"/>
          </a:solidFill>
          <a:ln w="6350">
            <a:solidFill>
              <a:srgbClr val="D9E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900413" name="TextBox 22"/>
          <p:cNvSpPr txBox="1"/>
          <p:nvPr/>
        </p:nvSpPr>
        <p:spPr bwMode="auto">
          <a:xfrm>
            <a:off x="8037575" y="5550407"/>
            <a:ext cx="3584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159E4A"/>
                </a:solidFill>
                <a:latin typeface="Consolas"/>
              </a:rPr>
              <a:t>choice driven by measurement, not guessing</a:t>
            </a:r>
            <a:endParaRPr/>
          </a:p>
        </p:txBody>
      </p:sp>
      <p:sp>
        <p:nvSpPr>
          <p:cNvPr id="612168720" name="Rectangle 23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964315" name="TextBox 24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1806529692" name="TextBox 25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50" b="0" i="0">
                <a:solidFill>
                  <a:srgbClr val="6B7A93"/>
                </a:solidFill>
                <a:latin typeface="Consolas"/>
              </a:rPr>
              <a:t>16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96046" name="Rectangle 1"/>
          <p:cNvSpPr/>
          <p:nvPr/>
        </p:nvSpPr>
        <p:spPr bwMode="auto">
          <a:xfrm>
            <a:off x="502920" y="365760"/>
            <a:ext cx="274320" cy="54864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7362728" name="TextBox 2"/>
          <p:cNvSpPr txBox="1"/>
          <p:nvPr/>
        </p:nvSpPr>
        <p:spPr bwMode="auto"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59E4A"/>
                </a:solidFill>
                <a:latin typeface="Consolas"/>
              </a:rPr>
              <a:t>AI 02 · GROUNDED, NOT GUESSED</a:t>
            </a:r>
            <a:endParaRPr/>
          </a:p>
        </p:txBody>
      </p:sp>
      <p:sp>
        <p:nvSpPr>
          <p:cNvPr id="1494637949" name="TextBox 3"/>
          <p:cNvSpPr txBox="1"/>
          <p:nvPr/>
        </p:nvSpPr>
        <p:spPr bwMode="auto"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0F182B"/>
                </a:solidFill>
                <a:latin typeface="Calibri"/>
              </a:rPr>
              <a:t>Our simulator fact-checks our AI</a:t>
            </a:r>
            <a:endParaRPr/>
          </a:p>
        </p:txBody>
      </p:sp>
      <p:sp>
        <p:nvSpPr>
          <p:cNvPr id="1498853328" name="Rounded Rectangle 4"/>
          <p:cNvSpPr/>
          <p:nvPr/>
        </p:nvSpPr>
        <p:spPr bwMode="auto">
          <a:xfrm>
            <a:off x="699515" y="178308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5006359" name="Rectangle 5"/>
          <p:cNvSpPr/>
          <p:nvPr/>
        </p:nvSpPr>
        <p:spPr bwMode="auto">
          <a:xfrm>
            <a:off x="900683" y="197510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0951389" name="TextBox 6"/>
          <p:cNvSpPr txBox="1"/>
          <p:nvPr/>
        </p:nvSpPr>
        <p:spPr bwMode="auto">
          <a:xfrm>
            <a:off x="1110995" y="19202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2563EB"/>
                </a:solidFill>
                <a:latin typeface="Consolas"/>
              </a:rPr>
              <a:t>STEP 1</a:t>
            </a:r>
            <a:endParaRPr/>
          </a:p>
        </p:txBody>
      </p:sp>
      <p:sp>
        <p:nvSpPr>
          <p:cNvPr id="590919695" name="TextBox 7"/>
          <p:cNvSpPr txBox="1"/>
          <p:nvPr/>
        </p:nvSpPr>
        <p:spPr bwMode="auto">
          <a:xfrm>
            <a:off x="900683" y="2167128"/>
            <a:ext cx="20208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300" b="1" i="0">
                <a:solidFill>
                  <a:srgbClr val="0F182B"/>
                </a:solidFill>
                <a:latin typeface="Calibri"/>
              </a:rPr>
              <a:t>Core computes</a:t>
            </a:r>
            <a:endParaRPr/>
          </a:p>
        </p:txBody>
      </p:sp>
      <p:sp>
        <p:nvSpPr>
          <p:cNvPr id="1296481178" name="TextBox 8"/>
          <p:cNvSpPr txBox="1"/>
          <p:nvPr/>
        </p:nvSpPr>
        <p:spPr bwMode="auto">
          <a:xfrm>
            <a:off x="900683" y="2514600"/>
            <a:ext cx="202082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000" b="0" i="0">
                <a:solidFill>
                  <a:srgbClr val="475569"/>
                </a:solidFill>
                <a:latin typeface="Calibri"/>
              </a:rPr>
              <a:t>state after every gate — exact amplitudes (0.707, 0, 0, 0.707)</a:t>
            </a:r>
            <a:endParaRPr/>
          </a:p>
        </p:txBody>
      </p:sp>
      <p:sp>
        <p:nvSpPr>
          <p:cNvPr id="564625535" name="Right Arrow 9"/>
          <p:cNvSpPr/>
          <p:nvPr/>
        </p:nvSpPr>
        <p:spPr bwMode="auto">
          <a:xfrm>
            <a:off x="3140964" y="2624327"/>
            <a:ext cx="329184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5606609" name="Rounded Rectangle 10"/>
          <p:cNvSpPr/>
          <p:nvPr/>
        </p:nvSpPr>
        <p:spPr bwMode="auto">
          <a:xfrm>
            <a:off x="3488435" y="178308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2558871" name="Rectangle 11"/>
          <p:cNvSpPr/>
          <p:nvPr/>
        </p:nvSpPr>
        <p:spPr bwMode="auto">
          <a:xfrm>
            <a:off x="3689603" y="197510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6369200" name="TextBox 12"/>
          <p:cNvSpPr txBox="1"/>
          <p:nvPr/>
        </p:nvSpPr>
        <p:spPr bwMode="auto">
          <a:xfrm>
            <a:off x="3899915" y="19202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7C3AED"/>
                </a:solidFill>
                <a:latin typeface="Consolas"/>
              </a:rPr>
              <a:t>STEP 2</a:t>
            </a:r>
            <a:endParaRPr/>
          </a:p>
        </p:txBody>
      </p:sp>
      <p:sp>
        <p:nvSpPr>
          <p:cNvPr id="940570839" name="TextBox 13"/>
          <p:cNvSpPr txBox="1"/>
          <p:nvPr/>
        </p:nvSpPr>
        <p:spPr bwMode="auto">
          <a:xfrm>
            <a:off x="3689603" y="2167128"/>
            <a:ext cx="20208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300" b="1" i="0">
                <a:solidFill>
                  <a:srgbClr val="0F182B"/>
                </a:solidFill>
                <a:latin typeface="Calibri"/>
              </a:rPr>
              <a:t>Core briefs the AI</a:t>
            </a:r>
            <a:endParaRPr/>
          </a:p>
        </p:txBody>
      </p:sp>
      <p:sp>
        <p:nvSpPr>
          <p:cNvPr id="1424273446" name="TextBox 14"/>
          <p:cNvSpPr txBox="1"/>
          <p:nvPr/>
        </p:nvSpPr>
        <p:spPr bwMode="auto">
          <a:xfrm>
            <a:off x="3689603" y="2514600"/>
            <a:ext cx="202082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000" b="0" i="0">
                <a:solidFill>
                  <a:srgbClr val="475569"/>
                </a:solidFill>
                <a:latin typeface="Calibri"/>
              </a:rPr>
              <a:t>probabilities + entanglement flags — small summaries, never raw million-amplitude dumps</a:t>
            </a:r>
            <a:endParaRPr/>
          </a:p>
        </p:txBody>
      </p:sp>
      <p:sp>
        <p:nvSpPr>
          <p:cNvPr id="391474085" name="Right Arrow 15"/>
          <p:cNvSpPr/>
          <p:nvPr/>
        </p:nvSpPr>
        <p:spPr bwMode="auto">
          <a:xfrm>
            <a:off x="5929883" y="2624327"/>
            <a:ext cx="329184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208685" name="Rounded Rectangle 16"/>
          <p:cNvSpPr/>
          <p:nvPr/>
        </p:nvSpPr>
        <p:spPr bwMode="auto">
          <a:xfrm>
            <a:off x="6277355" y="178308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7777487" name="Rectangle 17"/>
          <p:cNvSpPr/>
          <p:nvPr/>
        </p:nvSpPr>
        <p:spPr bwMode="auto">
          <a:xfrm>
            <a:off x="6478523" y="1975104"/>
            <a:ext cx="13716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3757594" name="TextBox 18"/>
          <p:cNvSpPr txBox="1"/>
          <p:nvPr/>
        </p:nvSpPr>
        <p:spPr bwMode="auto">
          <a:xfrm>
            <a:off x="6688836" y="19202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DB2777"/>
                </a:solidFill>
                <a:latin typeface="Consolas"/>
              </a:rPr>
              <a:t>STEP 3</a:t>
            </a:r>
            <a:endParaRPr/>
          </a:p>
        </p:txBody>
      </p:sp>
      <p:sp>
        <p:nvSpPr>
          <p:cNvPr id="2067523554" name="TextBox 19"/>
          <p:cNvSpPr txBox="1"/>
          <p:nvPr/>
        </p:nvSpPr>
        <p:spPr bwMode="auto">
          <a:xfrm>
            <a:off x="6478523" y="2167128"/>
            <a:ext cx="20208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300" b="1" i="0">
                <a:solidFill>
                  <a:srgbClr val="0F182B"/>
                </a:solidFill>
                <a:latin typeface="Calibri"/>
              </a:rPr>
              <a:t>AI narrates</a:t>
            </a:r>
            <a:endParaRPr/>
          </a:p>
        </p:txBody>
      </p:sp>
      <p:sp>
        <p:nvSpPr>
          <p:cNvPr id="989588445" name="TextBox 20"/>
          <p:cNvSpPr txBox="1"/>
          <p:nvPr/>
        </p:nvSpPr>
        <p:spPr bwMode="auto">
          <a:xfrm>
            <a:off x="6478523" y="2514600"/>
            <a:ext cx="202082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000" b="0" i="0">
                <a:solidFill>
                  <a:srgbClr val="475569"/>
                </a:solidFill>
                <a:latin typeface="Calibri"/>
              </a:rPr>
              <a:t>"q0 and q1 are perfectly correlated — always identical"</a:t>
            </a:r>
            <a:endParaRPr/>
          </a:p>
        </p:txBody>
      </p:sp>
      <p:sp>
        <p:nvSpPr>
          <p:cNvPr id="1638973007" name="Right Arrow 21"/>
          <p:cNvSpPr/>
          <p:nvPr/>
        </p:nvSpPr>
        <p:spPr bwMode="auto">
          <a:xfrm>
            <a:off x="8718803" y="2624327"/>
            <a:ext cx="329184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1142249" name="Rounded Rectangle 22"/>
          <p:cNvSpPr/>
          <p:nvPr/>
        </p:nvSpPr>
        <p:spPr bwMode="auto">
          <a:xfrm>
            <a:off x="9066276" y="178308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398922" name="Rectangle 23"/>
          <p:cNvSpPr/>
          <p:nvPr/>
        </p:nvSpPr>
        <p:spPr bwMode="auto">
          <a:xfrm>
            <a:off x="9267443" y="1975104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5100320" name="TextBox 24"/>
          <p:cNvSpPr txBox="1"/>
          <p:nvPr/>
        </p:nvSpPr>
        <p:spPr bwMode="auto">
          <a:xfrm>
            <a:off x="9477755" y="19202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50" b="1" i="0">
                <a:solidFill>
                  <a:srgbClr val="159E4A"/>
                </a:solidFill>
                <a:latin typeface="Consolas"/>
              </a:rPr>
              <a:t>STEP 4</a:t>
            </a:r>
            <a:endParaRPr/>
          </a:p>
        </p:txBody>
      </p:sp>
      <p:sp>
        <p:nvSpPr>
          <p:cNvPr id="1174362307" name="TextBox 25"/>
          <p:cNvSpPr txBox="1"/>
          <p:nvPr/>
        </p:nvSpPr>
        <p:spPr bwMode="auto">
          <a:xfrm>
            <a:off x="9267443" y="2167128"/>
            <a:ext cx="20208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300" b="1" i="0">
                <a:solidFill>
                  <a:srgbClr val="0F182B"/>
                </a:solidFill>
                <a:latin typeface="Calibri"/>
              </a:rPr>
              <a:t>Grounded output</a:t>
            </a:r>
            <a:endParaRPr/>
          </a:p>
        </p:txBody>
      </p:sp>
      <p:sp>
        <p:nvSpPr>
          <p:cNvPr id="458823128" name="TextBox 26"/>
          <p:cNvSpPr txBox="1"/>
          <p:nvPr/>
        </p:nvSpPr>
        <p:spPr bwMode="auto">
          <a:xfrm>
            <a:off x="9267443" y="2514600"/>
            <a:ext cx="202082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000" b="0" i="0">
                <a:solidFill>
                  <a:srgbClr val="475569"/>
                </a:solidFill>
                <a:latin typeface="Calibri"/>
              </a:rPr>
              <a:t>the explanation can only describe what was actually computed</a:t>
            </a:r>
            <a:endParaRPr/>
          </a:p>
        </p:txBody>
      </p:sp>
      <p:sp>
        <p:nvSpPr>
          <p:cNvPr id="667163096" name="Rounded Rectangle 27"/>
          <p:cNvSpPr/>
          <p:nvPr/>
        </p:nvSpPr>
        <p:spPr bwMode="auto">
          <a:xfrm>
            <a:off x="502920" y="4069080"/>
            <a:ext cx="11183112" cy="5029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EFF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3494919" name="TextBox 28"/>
          <p:cNvSpPr txBox="1"/>
          <p:nvPr/>
        </p:nvSpPr>
        <p:spPr bwMode="auto">
          <a:xfrm>
            <a:off x="731520" y="406908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159E4A"/>
                </a:solidFill>
                <a:latin typeface="Calibri"/>
              </a:rPr>
              <a:t>The AI never invents numbers — </a:t>
            </a:r>
            <a:r>
              <a:rPr sz="1300" b="1">
                <a:solidFill>
                  <a:srgbClr val="0F182B"/>
                </a:solidFill>
                <a:latin typeface="Calibri"/>
              </a:rPr>
              <a:t>it explains ours. </a:t>
            </a:r>
            <a:r>
              <a:rPr sz="1300" b="0">
                <a:solidFill>
                  <a:srgbClr val="475569"/>
                </a:solidFill>
                <a:latin typeface="Calibri"/>
              </a:rPr>
              <a:t>That's why our explainer won't hallucinate.</a:t>
            </a:r>
            <a:endParaRPr/>
          </a:p>
        </p:txBody>
      </p:sp>
      <p:sp>
        <p:nvSpPr>
          <p:cNvPr id="2003625646" name="Rounded Rectangle 29"/>
          <p:cNvSpPr/>
          <p:nvPr/>
        </p:nvSpPr>
        <p:spPr bwMode="auto">
          <a:xfrm>
            <a:off x="502920" y="4754880"/>
            <a:ext cx="6629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63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755126" name="TextBox 30"/>
          <p:cNvSpPr txBox="1"/>
          <p:nvPr/>
        </p:nvSpPr>
        <p:spPr bwMode="auto">
          <a:xfrm>
            <a:off x="539496" y="4773168"/>
            <a:ext cx="5897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D97706"/>
                </a:solidFill>
                <a:latin typeface="Consolas"/>
              </a:rPr>
              <a:t>NEXT:</a:t>
            </a:r>
            <a:endParaRPr/>
          </a:p>
        </p:txBody>
      </p:sp>
      <p:sp>
        <p:nvSpPr>
          <p:cNvPr id="68777487" name="Rounded Rectangle 31"/>
          <p:cNvSpPr/>
          <p:nvPr/>
        </p:nvSpPr>
        <p:spPr bwMode="auto">
          <a:xfrm>
            <a:off x="1257300" y="4754880"/>
            <a:ext cx="1595628" cy="292608"/>
          </a:xfrm>
          <a:prstGeom prst="roundRect">
            <a:avLst>
              <a:gd name="adj" fmla="val 50000"/>
            </a:avLst>
          </a:prstGeom>
          <a:solidFill>
            <a:srgbClr val="DCE6FB"/>
          </a:solidFill>
          <a:ln w="6350">
            <a:solidFill>
              <a:srgbClr val="DCE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4282199" name="TextBox 32"/>
          <p:cNvSpPr txBox="1"/>
          <p:nvPr/>
        </p:nvSpPr>
        <p:spPr bwMode="auto">
          <a:xfrm>
            <a:off x="1293876" y="4773168"/>
            <a:ext cx="15224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2563EB"/>
                </a:solidFill>
                <a:latin typeface="Consolas"/>
              </a:rPr>
              <a:t>feed circuit data</a:t>
            </a:r>
            <a:endParaRPr/>
          </a:p>
        </p:txBody>
      </p:sp>
      <p:sp>
        <p:nvSpPr>
          <p:cNvPr id="2058168722" name="Rounded Rectangle 33"/>
          <p:cNvSpPr/>
          <p:nvPr/>
        </p:nvSpPr>
        <p:spPr bwMode="auto">
          <a:xfrm>
            <a:off x="2944368" y="4754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EFF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2584331" name="TextBox 34"/>
          <p:cNvSpPr txBox="1"/>
          <p:nvPr/>
        </p:nvSpPr>
        <p:spPr bwMode="auto">
          <a:xfrm>
            <a:off x="2980944" y="477316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6B7A93"/>
                </a:solidFill>
                <a:latin typeface="Consolas"/>
              </a:rPr>
              <a:t>→</a:t>
            </a:r>
            <a:endParaRPr/>
          </a:p>
        </p:txBody>
      </p:sp>
      <p:sp>
        <p:nvSpPr>
          <p:cNvPr id="256537233" name="Rounded Rectangle 35"/>
          <p:cNvSpPr/>
          <p:nvPr/>
        </p:nvSpPr>
        <p:spPr bwMode="auto">
          <a:xfrm>
            <a:off x="3493008" y="4754880"/>
            <a:ext cx="2683764" cy="292608"/>
          </a:xfrm>
          <a:prstGeom prst="roundRect">
            <a:avLst>
              <a:gd name="adj" fmla="val 50000"/>
            </a:avLst>
          </a:prstGeom>
          <a:solidFill>
            <a:srgbClr val="EADFFC"/>
          </a:solidFill>
          <a:ln w="6350">
            <a:solidFill>
              <a:srgbClr val="EAD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364022" name="TextBox 36"/>
          <p:cNvSpPr txBox="1"/>
          <p:nvPr/>
        </p:nvSpPr>
        <p:spPr bwMode="auto">
          <a:xfrm>
            <a:off x="3529584" y="4773168"/>
            <a:ext cx="26106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7C3AED"/>
                </a:solidFill>
                <a:latin typeface="Consolas"/>
              </a:rPr>
              <a:t>measure accuracy (eval harness)</a:t>
            </a:r>
            <a:endParaRPr/>
          </a:p>
        </p:txBody>
      </p:sp>
      <p:sp>
        <p:nvSpPr>
          <p:cNvPr id="173281644" name="Rounded Rectangle 37"/>
          <p:cNvSpPr/>
          <p:nvPr/>
        </p:nvSpPr>
        <p:spPr bwMode="auto">
          <a:xfrm>
            <a:off x="6268212" y="4754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EFF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9236187" name="TextBox 38"/>
          <p:cNvSpPr txBox="1"/>
          <p:nvPr/>
        </p:nvSpPr>
        <p:spPr bwMode="auto">
          <a:xfrm>
            <a:off x="6304788" y="477316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6B7A93"/>
                </a:solidFill>
                <a:latin typeface="Consolas"/>
              </a:rPr>
              <a:t>→</a:t>
            </a:r>
            <a:endParaRPr/>
          </a:p>
        </p:txBody>
      </p:sp>
      <p:sp>
        <p:nvSpPr>
          <p:cNvPr id="1061671828" name="Rounded Rectangle 39"/>
          <p:cNvSpPr/>
          <p:nvPr/>
        </p:nvSpPr>
        <p:spPr bwMode="auto">
          <a:xfrm>
            <a:off x="502920" y="5120640"/>
            <a:ext cx="5093208" cy="292608"/>
          </a:xfrm>
          <a:prstGeom prst="roundRect">
            <a:avLst>
              <a:gd name="adj" fmla="val 50000"/>
            </a:avLst>
          </a:prstGeom>
          <a:solidFill>
            <a:srgbClr val="D9EFE2"/>
          </a:solidFill>
          <a:ln w="6350">
            <a:solidFill>
              <a:srgbClr val="D9E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6821475" name="TextBox 40"/>
          <p:cNvSpPr txBox="1"/>
          <p:nvPr/>
        </p:nvSpPr>
        <p:spPr bwMode="auto">
          <a:xfrm>
            <a:off x="539496" y="5138928"/>
            <a:ext cx="50200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159E4A"/>
                </a:solidFill>
                <a:latin typeface="Consolas"/>
              </a:rPr>
              <a:t>fine-tune on data our simulator auto-generates (LoRA on Colab)</a:t>
            </a:r>
            <a:endParaRPr/>
          </a:p>
        </p:txBody>
      </p:sp>
      <p:sp>
        <p:nvSpPr>
          <p:cNvPr id="112346948" name="TextBox 41"/>
          <p:cNvSpPr txBox="1"/>
          <p:nvPr/>
        </p:nvSpPr>
        <p:spPr bwMode="auto">
          <a:xfrm>
            <a:off x="502920" y="5943600"/>
            <a:ext cx="11183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100" b="0" i="1">
                <a:solidFill>
                  <a:srgbClr val="6B7A93"/>
                </a:solidFill>
                <a:latin typeface="Calibri"/>
              </a:rPr>
              <a:t>"SimQC: the simulator computes, the AI explains — neither does the other's job."</a:t>
            </a:r>
            <a:endParaRPr/>
          </a:p>
        </p:txBody>
      </p:sp>
      <p:sp>
        <p:nvSpPr>
          <p:cNvPr id="1176362775" name="Rectangle 42"/>
          <p:cNvSpPr/>
          <p:nvPr/>
        </p:nvSpPr>
        <p:spPr bwMode="auto">
          <a:xfrm>
            <a:off x="502920" y="64282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2957140" name="TextBox 43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627358550" name="TextBox 44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50" b="0" i="0">
                <a:solidFill>
                  <a:srgbClr val="6B7A93"/>
                </a:solidFill>
                <a:latin typeface="Consolas"/>
              </a:rPr>
              <a:t>17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145913" name="Oval 1"/>
          <p:cNvSpPr/>
          <p:nvPr/>
        </p:nvSpPr>
        <p:spPr bwMode="auto">
          <a:xfrm>
            <a:off x="9052560" y="-1554480"/>
            <a:ext cx="4754880" cy="4754880"/>
          </a:xfrm>
          <a:prstGeom prst="ellipse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3128667" name="Oval 2"/>
          <p:cNvSpPr/>
          <p:nvPr/>
        </p:nvSpPr>
        <p:spPr bwMode="auto">
          <a:xfrm>
            <a:off x="-1463040" y="4572000"/>
            <a:ext cx="3840480" cy="3840480"/>
          </a:xfrm>
          <a:prstGeom prst="ellipse">
            <a:avLst/>
          </a:prstGeom>
          <a:solidFill>
            <a:srgbClr val="ED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5491167" name="TextBox 3"/>
          <p:cNvSpPr txBox="1"/>
          <p:nvPr/>
        </p:nvSpPr>
        <p:spPr bwMode="auto"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5200" b="1" i="0">
                <a:solidFill>
                  <a:srgbClr val="0F182B"/>
                </a:solidFill>
                <a:latin typeface="Calibri"/>
              </a:rPr>
              <a:t>Thank you!</a:t>
            </a:r>
            <a:endParaRPr/>
          </a:p>
        </p:txBody>
      </p:sp>
      <p:sp>
        <p:nvSpPr>
          <p:cNvPr id="1212675454" name="Rounded Rectangle 5"/>
          <p:cNvSpPr/>
          <p:nvPr/>
        </p:nvSpPr>
        <p:spPr bwMode="auto">
          <a:xfrm>
            <a:off x="2614857" y="3246120"/>
            <a:ext cx="16480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2563EB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Aoutul Nabi Purna</a:t>
            </a:r>
            <a:endParaRPr/>
          </a:p>
        </p:txBody>
      </p:sp>
      <p:sp>
        <p:nvSpPr>
          <p:cNvPr id="1182551117" name="Rounded Rectangle 6"/>
          <p:cNvSpPr/>
          <p:nvPr/>
        </p:nvSpPr>
        <p:spPr bwMode="auto">
          <a:xfrm>
            <a:off x="4409171" y="3246120"/>
            <a:ext cx="130315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7C3AED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Shishir Dhar</a:t>
            </a:r>
            <a:endParaRPr/>
          </a:p>
        </p:txBody>
      </p:sp>
      <p:sp>
        <p:nvSpPr>
          <p:cNvPr id="1150108216" name="Rounded Rectangle 7"/>
          <p:cNvSpPr/>
          <p:nvPr/>
        </p:nvSpPr>
        <p:spPr bwMode="auto">
          <a:xfrm>
            <a:off x="5858626" y="3246120"/>
            <a:ext cx="137212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DB2777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Shihab Sharar</a:t>
            </a:r>
            <a:endParaRPr/>
          </a:p>
        </p:txBody>
      </p:sp>
      <p:sp>
        <p:nvSpPr>
          <p:cNvPr id="362232867" name="Rounded Rectangle 8"/>
          <p:cNvSpPr/>
          <p:nvPr/>
        </p:nvSpPr>
        <p:spPr bwMode="auto">
          <a:xfrm>
            <a:off x="7377052" y="3246120"/>
            <a:ext cx="219978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159E4A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Md. Iftikhar Alam Hrithik</a:t>
            </a:r>
            <a:endParaRPr/>
          </a:p>
        </p:txBody>
      </p:sp>
      <p:sp>
        <p:nvSpPr>
          <p:cNvPr id="1529679263" name="TextBox 9"/>
          <p:cNvSpPr txBox="1"/>
          <p:nvPr/>
        </p:nvSpPr>
        <p:spPr bwMode="auto">
          <a:xfrm>
            <a:off x="731520" y="379476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6B7A93"/>
                </a:solidFill>
                <a:latin typeface="Consolas"/>
              </a:rPr>
              <a:t>{aoutul.purna.241, shishir.dhar.241, shihab.sharar.241, iftikhar.hrithik.241}@northsouth.edu</a:t>
            </a:r>
            <a:endParaRPr/>
          </a:p>
        </p:txBody>
      </p:sp>
      <p:sp>
        <p:nvSpPr>
          <p:cNvPr id="1786402201" name="TextBox 15"/>
          <p:cNvSpPr txBox="1"/>
          <p:nvPr/>
        </p:nvSpPr>
        <p:spPr bwMode="auto">
          <a:xfrm>
            <a:off x="731520" y="4983480"/>
            <a:ext cx="10727711" cy="160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6B7A93"/>
                </a:solidFill>
                <a:latin typeface="Calibri"/>
              </a:rPr>
              <a:t>SimQC: Group 1 · CSE299.3 · North South University</a:t>
            </a:r>
            <a:endParaRPr/>
          </a:p>
        </p:txBody>
      </p:sp>
      <p:sp>
        <p:nvSpPr>
          <p:cNvPr id="236763559" name="Rectangle 16"/>
          <p:cNvSpPr/>
          <p:nvPr/>
        </p:nvSpPr>
        <p:spPr bwMode="auto"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4316012" name="TextBox 17"/>
          <p:cNvSpPr txBox="1"/>
          <p:nvPr/>
        </p:nvSpPr>
        <p:spPr bwMode="auto"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  <a:endParaRPr/>
          </a:p>
        </p:txBody>
      </p:sp>
      <p:sp>
        <p:nvSpPr>
          <p:cNvPr id="297638994" name="TextBox 18"/>
          <p:cNvSpPr txBox="1"/>
          <p:nvPr/>
        </p:nvSpPr>
        <p:spPr bwMode="auto">
          <a:xfrm>
            <a:off x="10378440" y="6558269"/>
            <a:ext cx="1310471" cy="1451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6B7A93"/>
                </a:solidFill>
                <a:latin typeface="Consolas"/>
              </a:rPr>
              <a:t>18 / 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SimQC — Group 1 Presentation</dc:title>
  <dc:subject/>
  <dc:creator>Aoutul Nabi Purna;Shishir Dhar;Shihab Sharar;Md. Iftikhar Alam Hrithik</dc:creator>
  <cp:keywords/>
  <dc:description>generated using python-pptx</dc:description>
  <cp:lastModifiedBy/>
  <cp:revision>4</cp:revision>
  <dcterms:created xsi:type="dcterms:W3CDTF">2013-01-27T09:14:16Z</dcterms:created>
  <dcterms:modified xsi:type="dcterms:W3CDTF">2026-10-11T20:06:08Z</dcterms:modified>
  <cp:category/>
</cp:coreProperties>
</file>